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jpeg" ContentType="image/jpeg"/>
  <Override PartName="/ppt/media/image11.png" ContentType="image/png"/>
  <Override PartName="/ppt/media/image8.png" ContentType="image/png"/>
  <Override PartName="/ppt/media/image12.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1.xml.rels" ContentType="application/vnd.openxmlformats-package.relationships+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IN" sz="4400" spc="-1" strike="noStrike">
                <a:solidFill>
                  <a:srgbClr val="000000"/>
                </a:solidFill>
                <a:latin typeface="Arial"/>
              </a:rPr>
              <a:t>Click to move the slide</a:t>
            </a:r>
            <a:endParaRPr b="0" lang="en-IN" sz="4400" spc="-1" strike="noStrike">
              <a:solidFill>
                <a:srgbClr val="000000"/>
              </a:solidFill>
              <a:latin typeface="Arial"/>
            </a:endParaRPr>
          </a:p>
        </p:txBody>
      </p:sp>
      <p:sp>
        <p:nvSpPr>
          <p:cNvPr id="4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4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46"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47"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8"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CE71CB60-9D75-4685-B4D3-C27EA9289505}"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685800" y="1143000"/>
            <a:ext cx="5484600" cy="3084480"/>
          </a:xfrm>
          <a:prstGeom prst="rect">
            <a:avLst/>
          </a:prstGeom>
          <a:ln w="0">
            <a:noFill/>
          </a:ln>
        </p:spPr>
      </p:sp>
      <p:sp>
        <p:nvSpPr>
          <p:cNvPr id="15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54"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8711EDF-263D-4B57-9ABF-2AB957E40F23}"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685800" y="1143000"/>
            <a:ext cx="5484600" cy="3084480"/>
          </a:xfrm>
          <a:prstGeom prst="rect">
            <a:avLst/>
          </a:prstGeom>
          <a:ln w="0">
            <a:noFill/>
          </a:ln>
        </p:spPr>
      </p:sp>
      <p:sp>
        <p:nvSpPr>
          <p:cNvPr id="15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57"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3443A93-5355-482D-A0FE-1297D1C638DF}"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685800" y="1143000"/>
            <a:ext cx="5484600" cy="3084480"/>
          </a:xfrm>
          <a:prstGeom prst="rect">
            <a:avLst/>
          </a:prstGeom>
          <a:ln w="0">
            <a:noFill/>
          </a:ln>
        </p:spPr>
      </p:sp>
      <p:sp>
        <p:nvSpPr>
          <p:cNvPr id="15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60"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F6AD518-7460-4397-BD85-DB8040DD1AC1}"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4600" cy="3084480"/>
          </a:xfrm>
          <a:prstGeom prst="rect">
            <a:avLst/>
          </a:prstGeom>
          <a:ln w="0">
            <a:noFill/>
          </a:ln>
        </p:spPr>
      </p:sp>
      <p:sp>
        <p:nvSpPr>
          <p:cNvPr id="16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63"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55DF658-91BC-407C-B788-CE2090C6A04B}"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4600" cy="3084480"/>
          </a:xfrm>
          <a:prstGeom prst="rect">
            <a:avLst/>
          </a:prstGeom>
          <a:ln w="0">
            <a:noFill/>
          </a:ln>
        </p:spPr>
      </p:sp>
      <p:sp>
        <p:nvSpPr>
          <p:cNvPr id="16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66" name="PlaceHolder 3"/>
          <p:cNvSpPr>
            <a:spLocks noGrp="1"/>
          </p:cNvSpPr>
          <p:nvPr>
            <p:ph type="sldNum" idx="8"/>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12932EF-AE03-4294-87AD-FF5433022CF3}"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4600" cy="3084480"/>
          </a:xfrm>
          <a:prstGeom prst="rect">
            <a:avLst/>
          </a:prstGeom>
          <a:ln w="0">
            <a:noFill/>
          </a:ln>
        </p:spPr>
      </p:sp>
      <p:sp>
        <p:nvSpPr>
          <p:cNvPr id="16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69" name="PlaceHolder 3"/>
          <p:cNvSpPr>
            <a:spLocks noGrp="1"/>
          </p:cNvSpPr>
          <p:nvPr>
            <p:ph type="sldNum" idx="9"/>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24B9764-149F-4341-9546-DDA8E56E76F0}"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4600" cy="3084480"/>
          </a:xfrm>
          <a:prstGeom prst="rect">
            <a:avLst/>
          </a:prstGeom>
          <a:ln w="0">
            <a:noFill/>
          </a:ln>
        </p:spPr>
      </p:sp>
      <p:sp>
        <p:nvSpPr>
          <p:cNvPr id="17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72" name="PlaceHolder 3"/>
          <p:cNvSpPr>
            <a:spLocks noGrp="1"/>
          </p:cNvSpPr>
          <p:nvPr>
            <p:ph type="sldNum" idx="10"/>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EF4BB19-4E0A-4A0F-A2A7-B3AAEF02190E}"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2"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a:t>
            </a:r>
            <a:r>
              <a:rPr b="0" lang="en-IN" sz="4400" spc="-1" strike="noStrike">
                <a:solidFill>
                  <a:srgbClr val="000000"/>
                </a:solidFill>
                <a:latin typeface="Arial"/>
              </a:rPr>
              <a:t>edit the </a:t>
            </a:r>
            <a:r>
              <a:rPr b="0" lang="en-IN" sz="4400" spc="-1" strike="noStrike">
                <a:solidFill>
                  <a:srgbClr val="000000"/>
                </a:solidFill>
                <a:latin typeface="Arial"/>
              </a:rPr>
              <a:t>title text </a:t>
            </a:r>
            <a:r>
              <a:rPr b="0" lang="en-IN" sz="4400" spc="-1" strike="noStrike">
                <a:solidFill>
                  <a:srgbClr val="000000"/>
                </a:solidFill>
                <a:latin typeface="Arial"/>
              </a:rPr>
              <a:t>format</a:t>
            </a:r>
            <a:endParaRPr b="0" lang="en-IN" sz="4400" spc="-1" strike="noStrike">
              <a:solidFill>
                <a:srgbClr val="000000"/>
              </a:solidFill>
              <a:latin typeface="Arial"/>
            </a:endParaRPr>
          </a:p>
        </p:txBody>
      </p:sp>
      <p:sp>
        <p:nvSpPr>
          <p:cNvPr id="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6"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7"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a:t>
            </a:r>
            <a:r>
              <a:rPr b="0" lang="en-IN" sz="4400" spc="-1" strike="noStrike">
                <a:solidFill>
                  <a:srgbClr val="000000"/>
                </a:solidFill>
                <a:latin typeface="Arial"/>
              </a:rPr>
              <a:t>edit the </a:t>
            </a:r>
            <a:r>
              <a:rPr b="0" lang="en-IN" sz="4400" spc="-1" strike="noStrike">
                <a:solidFill>
                  <a:srgbClr val="000000"/>
                </a:solidFill>
                <a:latin typeface="Arial"/>
              </a:rPr>
              <a:t>title text </a:t>
            </a:r>
            <a:r>
              <a:rPr b="0" lang="en-IN" sz="4400" spc="-1" strike="noStrike">
                <a:solidFill>
                  <a:srgbClr val="000000"/>
                </a:solidFill>
                <a:latin typeface="Arial"/>
              </a:rPr>
              <a:t>format</a:t>
            </a:r>
            <a:endParaRPr b="0" lang="en-IN" sz="4400" spc="-1" strike="noStrike">
              <a:solidFill>
                <a:srgbClr val="000000"/>
              </a:solidFill>
              <a:latin typeface="Arial"/>
            </a:endParaRPr>
          </a:p>
        </p:txBody>
      </p:sp>
      <p:sp>
        <p:nvSpPr>
          <p:cNvPr id="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1"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12"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a:t>
            </a:r>
            <a:r>
              <a:rPr b="0" lang="en-IN" sz="4400" spc="-1" strike="noStrike">
                <a:solidFill>
                  <a:srgbClr val="000000"/>
                </a:solidFill>
                <a:latin typeface="Arial"/>
              </a:rPr>
              <a:t>edit the </a:t>
            </a:r>
            <a:r>
              <a:rPr b="0" lang="en-IN" sz="4400" spc="-1" strike="noStrike">
                <a:solidFill>
                  <a:srgbClr val="000000"/>
                </a:solidFill>
                <a:latin typeface="Arial"/>
              </a:rPr>
              <a:t>title text </a:t>
            </a:r>
            <a:r>
              <a:rPr b="0" lang="en-IN" sz="4400" spc="-1" strike="noStrike">
                <a:solidFill>
                  <a:srgbClr val="000000"/>
                </a:solidFill>
                <a:latin typeface="Arial"/>
              </a:rPr>
              <a:t>format</a:t>
            </a:r>
            <a:endParaRPr b="0" lang="en-IN" sz="4400" spc="-1" strike="noStrike">
              <a:solidFill>
                <a:srgbClr val="000000"/>
              </a:solidFill>
              <a:latin typeface="Arial"/>
            </a:endParaRPr>
          </a:p>
        </p:txBody>
      </p:sp>
      <p:sp>
        <p:nvSpPr>
          <p:cNvPr id="1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6"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17"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a:t>
            </a:r>
            <a:r>
              <a:rPr b="0" lang="en-IN" sz="4400" spc="-1" strike="noStrike">
                <a:solidFill>
                  <a:srgbClr val="000000"/>
                </a:solidFill>
                <a:latin typeface="Arial"/>
              </a:rPr>
              <a:t>edit the </a:t>
            </a:r>
            <a:r>
              <a:rPr b="0" lang="en-IN" sz="4400" spc="-1" strike="noStrike">
                <a:solidFill>
                  <a:srgbClr val="000000"/>
                </a:solidFill>
                <a:latin typeface="Arial"/>
              </a:rPr>
              <a:t>title text </a:t>
            </a:r>
            <a:r>
              <a:rPr b="0" lang="en-IN" sz="4400" spc="-1" strike="noStrike">
                <a:solidFill>
                  <a:srgbClr val="000000"/>
                </a:solidFill>
                <a:latin typeface="Arial"/>
              </a:rPr>
              <a:t>format</a:t>
            </a:r>
            <a:endParaRPr b="0" lang="en-IN"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1"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22"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2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a:t>
            </a:r>
            <a:r>
              <a:rPr b="0" lang="en-IN" sz="4400" spc="-1" strike="noStrike">
                <a:solidFill>
                  <a:srgbClr val="000000"/>
                </a:solidFill>
                <a:latin typeface="Arial"/>
              </a:rPr>
              <a:t>the title text </a:t>
            </a:r>
            <a:r>
              <a:rPr b="0" lang="en-IN" sz="4400" spc="-1" strike="noStrike">
                <a:solidFill>
                  <a:srgbClr val="000000"/>
                </a:solidFill>
                <a:latin typeface="Arial"/>
              </a:rPr>
              <a:t>format</a:t>
            </a:r>
            <a:endParaRPr b="0" lang="en-IN" sz="4400" spc="-1" strike="noStrike">
              <a:solidFill>
                <a:srgbClr val="000000"/>
              </a:solidFill>
              <a:latin typeface="Arial"/>
            </a:endParaRPr>
          </a:p>
        </p:txBody>
      </p:sp>
      <p:sp>
        <p:nvSpPr>
          <p:cNvPr id="2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6"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27"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a:t>
            </a:r>
            <a:r>
              <a:rPr b="0" lang="en-IN" sz="4400" spc="-1" strike="noStrike">
                <a:solidFill>
                  <a:srgbClr val="000000"/>
                </a:solidFill>
                <a:latin typeface="Arial"/>
              </a:rPr>
              <a:t>k to </a:t>
            </a:r>
            <a:r>
              <a:rPr b="0" lang="en-IN" sz="4400" spc="-1" strike="noStrike">
                <a:solidFill>
                  <a:srgbClr val="000000"/>
                </a:solidFill>
                <a:latin typeface="Arial"/>
              </a:rPr>
              <a:t>edit </a:t>
            </a:r>
            <a:r>
              <a:rPr b="0" lang="en-IN" sz="4400" spc="-1" strike="noStrike">
                <a:solidFill>
                  <a:srgbClr val="000000"/>
                </a:solidFill>
                <a:latin typeface="Arial"/>
              </a:rPr>
              <a:t>the </a:t>
            </a:r>
            <a:r>
              <a:rPr b="0" lang="en-IN" sz="4400" spc="-1" strike="noStrike">
                <a:solidFill>
                  <a:srgbClr val="000000"/>
                </a:solidFill>
                <a:latin typeface="Arial"/>
              </a:rPr>
              <a:t>title </a:t>
            </a:r>
            <a:r>
              <a:rPr b="0" lang="en-IN" sz="4400" spc="-1" strike="noStrike">
                <a:solidFill>
                  <a:srgbClr val="000000"/>
                </a:solidFill>
                <a:latin typeface="Arial"/>
              </a:rPr>
              <a:t>text </a:t>
            </a:r>
            <a:r>
              <a:rPr b="0" lang="en-IN" sz="4400" spc="-1" strike="noStrike">
                <a:solidFill>
                  <a:srgbClr val="000000"/>
                </a:solidFill>
                <a:latin typeface="Arial"/>
              </a:rPr>
              <a:t>form</a:t>
            </a:r>
            <a:r>
              <a:rPr b="0" lang="en-IN" sz="4400" spc="-1" strike="noStrike">
                <a:solidFill>
                  <a:srgbClr val="000000"/>
                </a:solidFill>
                <a:latin typeface="Arial"/>
              </a:rPr>
              <a:t>at</a:t>
            </a:r>
            <a:endParaRPr b="0" lang="en-IN" sz="4400" spc="-1" strike="noStrike">
              <a:solidFill>
                <a:srgbClr val="000000"/>
              </a:solidFill>
              <a:latin typeface="Arial"/>
            </a:endParaRPr>
          </a:p>
        </p:txBody>
      </p:sp>
      <p:sp>
        <p:nvSpPr>
          <p:cNvPr id="2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1"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32"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3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6"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37" name="Image 0" descr="preencoded.png">
            <a:hlinkClick r:id="rId2"/>
          </p:cNvPr>
          <p:cNvPicPr/>
          <p:nvPr/>
        </p:nvPicPr>
        <p:blipFill>
          <a:blip r:embed="rId3"/>
          <a:stretch/>
        </p:blipFill>
        <p:spPr>
          <a:xfrm>
            <a:off x="12839040" y="7749720"/>
            <a:ext cx="1720800" cy="4096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Shape 0"/>
          <p:cNvSpPr/>
          <p:nvPr/>
        </p:nvSpPr>
        <p:spPr>
          <a:xfrm>
            <a:off x="0" y="0"/>
            <a:ext cx="14628600" cy="8227800"/>
          </a:xfrm>
          <a:prstGeom prst="rect">
            <a:avLst/>
          </a:prstGeom>
          <a:solidFill>
            <a:srgbClr val="1b1b1e"/>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9" name="Shape 1"/>
          <p:cNvSpPr/>
          <p:nvPr/>
        </p:nvSpPr>
        <p:spPr>
          <a:xfrm>
            <a:off x="0" y="0"/>
            <a:ext cx="14628600" cy="8227800"/>
          </a:xfrm>
          <a:prstGeom prst="rect">
            <a:avLst/>
          </a:prstGeom>
          <a:solidFill>
            <a:srgbClr val="27272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pic>
        <p:nvPicPr>
          <p:cNvPr id="40" name="Image 0" descr="preencoded.png">
            <a:hlinkClick r:id="rId2"/>
          </p:cNvPr>
          <p:cNvPicPr/>
          <p:nvPr/>
        </p:nvPicPr>
        <p:blipFill>
          <a:blip r:embed="rId3"/>
          <a:stretch/>
        </p:blipFill>
        <p:spPr>
          <a:xfrm>
            <a:off x="12839040" y="7749720"/>
            <a:ext cx="1720800" cy="409680"/>
          </a:xfrm>
          <a:prstGeom prst="rect">
            <a:avLst/>
          </a:prstGeom>
          <a:ln w="0">
            <a:noFill/>
          </a:ln>
        </p:spPr>
      </p:pic>
      <p:sp>
        <p:nvSpPr>
          <p:cNvPr id="4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42"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8.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6.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0.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Image 0" descr="preencoded.png"/>
          <p:cNvPicPr/>
          <p:nvPr/>
        </p:nvPicPr>
        <p:blipFill>
          <a:blip r:embed="rId1"/>
          <a:stretch/>
        </p:blipFill>
        <p:spPr>
          <a:xfrm>
            <a:off x="9144000" y="0"/>
            <a:ext cx="5484600" cy="8227800"/>
          </a:xfrm>
          <a:prstGeom prst="rect">
            <a:avLst/>
          </a:prstGeom>
          <a:ln w="0">
            <a:noFill/>
          </a:ln>
        </p:spPr>
      </p:pic>
      <p:sp>
        <p:nvSpPr>
          <p:cNvPr id="50" name="Text 0"/>
          <p:cNvSpPr/>
          <p:nvPr/>
        </p:nvSpPr>
        <p:spPr>
          <a:xfrm>
            <a:off x="864000" y="2360520"/>
            <a:ext cx="7414200" cy="2741400"/>
          </a:xfrm>
          <a:prstGeom prst="rect">
            <a:avLst/>
          </a:prstGeom>
          <a:noFill/>
          <a:ln w="0">
            <a:noFill/>
          </a:ln>
        </p:spPr>
        <p:style>
          <a:lnRef idx="0"/>
          <a:fillRef idx="0"/>
          <a:effectRef idx="0"/>
          <a:fontRef idx="minor"/>
        </p:style>
        <p:txBody>
          <a:bodyPr lIns="0" rIns="0" tIns="0" bIns="0" anchor="t">
            <a:noAutofit/>
          </a:bodyPr>
          <a:p>
            <a:pPr>
              <a:lnSpc>
                <a:spcPts val="5400"/>
              </a:lnSpc>
              <a:tabLst>
                <a:tab algn="l" pos="0"/>
              </a:tabLst>
            </a:pPr>
            <a:r>
              <a:rPr b="1" lang="en-US" sz="4300" spc="-1" strike="noStrike">
                <a:solidFill>
                  <a:srgbClr val="ffe14d"/>
                </a:solidFill>
                <a:latin typeface="Comfortaa Bold"/>
                <a:ea typeface="Comfortaa Bold"/>
              </a:rPr>
              <a:t>Pharmachain: A Closed-Loop Relational System for Pharmaceutical Traceability</a:t>
            </a:r>
            <a:endParaRPr b="0" lang="en-IN" sz="4300" spc="-1" strike="noStrike">
              <a:solidFill>
                <a:srgbClr val="000000"/>
              </a:solidFill>
              <a:latin typeface="Arial"/>
            </a:endParaRPr>
          </a:p>
        </p:txBody>
      </p:sp>
      <p:sp>
        <p:nvSpPr>
          <p:cNvPr id="51" name="Text 1"/>
          <p:cNvSpPr/>
          <p:nvPr/>
        </p:nvSpPr>
        <p:spPr>
          <a:xfrm>
            <a:off x="864000" y="5474160"/>
            <a:ext cx="7414200" cy="393120"/>
          </a:xfrm>
          <a:prstGeom prst="rect">
            <a:avLst/>
          </a:prstGeom>
          <a:noFill/>
          <a:ln w="0">
            <a:noFill/>
          </a:ln>
        </p:spPr>
        <p:style>
          <a:lnRef idx="0"/>
          <a:fillRef idx="0"/>
          <a:effectRef idx="0"/>
          <a:fontRef idx="minor"/>
        </p:style>
        <p:txBody>
          <a:bodyPr wrap="none" lIns="0" rIns="0" tIns="0" bIns="0" anchor="t">
            <a:noAutofit/>
          </a:bodyPr>
          <a:p>
            <a:pPr>
              <a:lnSpc>
                <a:spcPts val="3101"/>
              </a:lnSpc>
              <a:tabLst>
                <a:tab algn="l" pos="0"/>
              </a:tabLst>
            </a:pPr>
            <a:r>
              <a:rPr b="0" lang="en-US" sz="1900" spc="-1" strike="noStrike">
                <a:solidFill>
                  <a:srgbClr val="d7d4cc"/>
                </a:solidFill>
                <a:latin typeface="Raleway Medium"/>
                <a:ea typeface="Raleway Medium"/>
              </a:rPr>
              <a:t>MCA Semester II Project </a:t>
            </a:r>
            <a:endParaRPr b="0" lang="en-IN"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Text 26"/>
          <p:cNvSpPr/>
          <p:nvPr/>
        </p:nvSpPr>
        <p:spPr>
          <a:xfrm>
            <a:off x="995040" y="935640"/>
            <a:ext cx="5484600" cy="684000"/>
          </a:xfrm>
          <a:prstGeom prst="rect">
            <a:avLst/>
          </a:prstGeom>
          <a:noFill/>
          <a:ln w="0">
            <a:noFill/>
          </a:ln>
        </p:spPr>
        <p:style>
          <a:lnRef idx="0"/>
          <a:fillRef idx="0"/>
          <a:effectRef idx="0"/>
          <a:fontRef idx="minor"/>
        </p:style>
        <p:txBody>
          <a:bodyPr wrap="none" lIns="0" rIns="0" tIns="0" bIns="0" anchor="t">
            <a:noAutofit/>
          </a:bodyPr>
          <a:p>
            <a:pPr>
              <a:lnSpc>
                <a:spcPts val="5400"/>
              </a:lnSpc>
              <a:tabLst>
                <a:tab algn="l" pos="0"/>
              </a:tabLst>
            </a:pPr>
            <a:r>
              <a:rPr b="1" lang="en-US" sz="4300" spc="-1" strike="noStrike">
                <a:solidFill>
                  <a:srgbClr val="ffe14d"/>
                </a:solidFill>
                <a:latin typeface="Comfortaa Bold"/>
                <a:ea typeface="Comfortaa Bold"/>
              </a:rPr>
              <a:t>Scope</a:t>
            </a:r>
            <a:endParaRPr b="0" lang="en-IN" sz="4300" spc="-1" strike="noStrike">
              <a:solidFill>
                <a:srgbClr val="000000"/>
              </a:solidFill>
              <a:latin typeface="Arial"/>
            </a:endParaRPr>
          </a:p>
        </p:txBody>
      </p:sp>
      <p:sp>
        <p:nvSpPr>
          <p:cNvPr id="53" name=""/>
          <p:cNvSpPr/>
          <p:nvPr/>
        </p:nvSpPr>
        <p:spPr>
          <a:xfrm>
            <a:off x="900000" y="2160000"/>
            <a:ext cx="12599640" cy="50396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Operational Boundary</a:t>
            </a:r>
            <a:r>
              <a:rPr b="0" lang="en-IN" sz="2200" spc="-1" strike="noStrike">
                <a:solidFill>
                  <a:schemeClr val="lt1"/>
                </a:solidFill>
                <a:latin typeface="Ubuntu Mono"/>
              </a:rPr>
              <a:t> Focused strictly on Mid-Stream operations (Factory Gate → Distributor → Retailer Shelf).</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Relational Complexity</a:t>
            </a:r>
            <a:r>
              <a:rPr b="0" lang="en-IN" sz="2200" spc="-1" strike="noStrike">
                <a:solidFill>
                  <a:schemeClr val="lt1"/>
                </a:solidFill>
                <a:latin typeface="Ubuntu Mono"/>
              </a:rPr>
              <a:t>  A table schema categorized into six major functional modules: Identity, Product, Warehouse, Fulfillment, Returns, and Finance</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Reverse Flow Management</a:t>
            </a:r>
            <a:r>
              <a:rPr b="0" lang="en-IN" sz="2200" spc="-1" strike="noStrike">
                <a:solidFill>
                  <a:schemeClr val="lt1"/>
                </a:solidFill>
                <a:latin typeface="Ubuntu Mono"/>
              </a:rPr>
              <a:t> Comprehensive handling of non-saleable goods, including return request, gatekeeping inspections, and financial credit notes.</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Access Governance</a:t>
            </a:r>
            <a:r>
              <a:rPr b="0" lang="en-IN" sz="2200" spc="-1" strike="noStrike">
                <a:solidFill>
                  <a:schemeClr val="lt1"/>
                </a:solidFill>
                <a:latin typeface="Ubuntu Mono"/>
              </a:rPr>
              <a:t> Implementation of Role-Based Access Control (RBAC) for six distinct organizational roles.</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Exclusions</a:t>
            </a:r>
            <a:r>
              <a:rPr b="0" lang="en-IN" sz="2200" spc="-1" strike="noStrike">
                <a:solidFill>
                  <a:schemeClr val="lt1"/>
                </a:solidFill>
                <a:latin typeface="Ubuntu Mono"/>
              </a:rPr>
              <a:t> Does not include raw material procurement (Upstream) or patient-level medical records/billing (Downstream).</a:t>
            </a:r>
            <a:endParaRPr b="0" lang="en-IN" sz="2200" spc="-1" strike="noStrike">
              <a:solidFill>
                <a:srgbClr val="000000"/>
              </a:solidFill>
              <a:latin typeface="Arial"/>
            </a:endParaRPr>
          </a:p>
          <a:p>
            <a:pPr>
              <a:lnSpc>
                <a:spcPct val="100000"/>
              </a:lnSpc>
            </a:pPr>
            <a:endParaRPr b="0" lang="en-IN" sz="1000" spc="-1" strike="noStrike">
              <a:solidFill>
                <a:srgbClr val="000000"/>
              </a:solidFill>
              <a:latin typeface="Arial"/>
            </a:endParaRPr>
          </a:p>
        </p:txBody>
      </p:sp>
      <p:sp>
        <p:nvSpPr>
          <p:cNvPr id="54"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pPr>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 25"/>
          <p:cNvSpPr/>
          <p:nvPr/>
        </p:nvSpPr>
        <p:spPr>
          <a:xfrm>
            <a:off x="995040" y="935640"/>
            <a:ext cx="5484600" cy="684000"/>
          </a:xfrm>
          <a:prstGeom prst="rect">
            <a:avLst/>
          </a:prstGeom>
          <a:noFill/>
          <a:ln w="0">
            <a:noFill/>
          </a:ln>
        </p:spPr>
        <p:style>
          <a:lnRef idx="0"/>
          <a:fillRef idx="0"/>
          <a:effectRef idx="0"/>
          <a:fontRef idx="minor"/>
        </p:style>
        <p:txBody>
          <a:bodyPr wrap="none" lIns="0" rIns="0" tIns="0" bIns="0" anchor="t">
            <a:noAutofit/>
          </a:bodyPr>
          <a:p>
            <a:pPr>
              <a:lnSpc>
                <a:spcPts val="5400"/>
              </a:lnSpc>
              <a:tabLst>
                <a:tab algn="l" pos="0"/>
              </a:tabLst>
            </a:pPr>
            <a:r>
              <a:rPr b="1" lang="en-US" sz="4300" spc="-1" strike="noStrike">
                <a:solidFill>
                  <a:srgbClr val="ffe14d"/>
                </a:solidFill>
                <a:latin typeface="Comfortaa Bold"/>
                <a:ea typeface="Comfortaa Bold"/>
              </a:rPr>
              <a:t>Objectives</a:t>
            </a:r>
            <a:endParaRPr b="0" lang="en-IN" sz="4300" spc="-1" strike="noStrike">
              <a:solidFill>
                <a:srgbClr val="000000"/>
              </a:solidFill>
              <a:latin typeface="Arial"/>
            </a:endParaRPr>
          </a:p>
        </p:txBody>
      </p:sp>
      <p:sp>
        <p:nvSpPr>
          <p:cNvPr id="56" name=""/>
          <p:cNvSpPr/>
          <p:nvPr/>
        </p:nvSpPr>
        <p:spPr>
          <a:xfrm>
            <a:off x="936000" y="2160000"/>
            <a:ext cx="12599640" cy="50396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Achieve End-to-End Traceability</a:t>
            </a:r>
            <a:r>
              <a:rPr b="0" lang="en-IN" sz="2200" spc="-1" strike="noStrike">
                <a:solidFill>
                  <a:schemeClr val="lt1"/>
                </a:solidFill>
                <a:latin typeface="Ubuntu Mono"/>
              </a:rPr>
              <a:t> Implement a "Batch Pedigree" system to solve the "Information Asymmetry" between manufacturers and retailers.</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Automate Triggers</a:t>
            </a:r>
            <a:r>
              <a:rPr b="0" lang="en-IN" sz="2200" spc="-1" strike="noStrike">
                <a:solidFill>
                  <a:schemeClr val="lt1"/>
                </a:solidFill>
                <a:latin typeface="Ubuntu Mono"/>
              </a:rPr>
              <a:t> Proactively identify and flag inventory for return prior to expiration using database-level automation.</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Automate Waste Classification</a:t>
            </a:r>
            <a:r>
              <a:rPr b="0" lang="en-IN" sz="2200" spc="-1" strike="noStrike">
                <a:solidFill>
                  <a:srgbClr val="000000"/>
                </a:solidFill>
                <a:latin typeface="Ubuntu Mono"/>
              </a:rPr>
              <a:t> </a:t>
            </a:r>
            <a:r>
              <a:rPr b="0" lang="en-IN" sz="2200" spc="-1" strike="noStrike">
                <a:solidFill>
                  <a:schemeClr val="lt1"/>
                </a:solidFill>
                <a:latin typeface="Ubuntu Mono"/>
              </a:rPr>
              <a:t>Implement logic-based routing to automatically categorize returned stock for recycle, remanufacturing, or disposal based on inspection outcomes</a:t>
            </a:r>
            <a:endParaRPr b="0" lang="en-IN" sz="2200" spc="-1" strike="noStrike">
              <a:solidFill>
                <a:srgbClr val="000000"/>
              </a:solidFill>
              <a:latin typeface="Arial"/>
            </a:endParaRPr>
          </a:p>
          <a:p>
            <a:pPr marL="216000" indent="-216000">
              <a:lnSpc>
                <a:spcPct val="100000"/>
              </a:lnSpc>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Enforce Safety Standards</a:t>
            </a:r>
            <a:r>
              <a:rPr b="0" lang="en-IN" sz="2200" spc="-1" strike="noStrike">
                <a:solidFill>
                  <a:schemeClr val="lt1"/>
                </a:solidFill>
                <a:latin typeface="Ubuntu Mono"/>
              </a:rPr>
              <a:t> Generate "Disposal Certificates" to ensure expired or recalled medications never re-enter the market.</a:t>
            </a:r>
            <a:endParaRPr b="0" lang="en-IN" sz="2200" spc="-1" strike="noStrike">
              <a:solidFill>
                <a:srgbClr val="000000"/>
              </a:solidFill>
              <a:latin typeface="Arial"/>
            </a:endParaRPr>
          </a:p>
          <a:p>
            <a:pPr marL="216000" indent="-216000">
              <a:spcBef>
                <a:spcPts val="1191"/>
              </a:spcBef>
              <a:spcAft>
                <a:spcPts val="992"/>
              </a:spcAft>
              <a:buClr>
                <a:srgbClr val="ffffff"/>
              </a:buClr>
              <a:buSzPct val="45000"/>
              <a:buFont typeface="Wingdings" charset="2"/>
              <a:buChar char=""/>
            </a:pPr>
            <a:r>
              <a:rPr b="1" lang="en-IN" sz="2200" spc="165" strike="noStrike">
                <a:solidFill>
                  <a:schemeClr val="accent4">
                    <a:lumMod val="60000"/>
                    <a:lumOff val="40000"/>
                  </a:schemeClr>
                </a:solidFill>
                <a:latin typeface="Ubuntu Mono"/>
              </a:rPr>
              <a:t>Enable Granular Cost Analysis</a:t>
            </a:r>
            <a:r>
              <a:rPr b="0" lang="en-IN" sz="2200" spc="-1" strike="noStrike">
                <a:solidFill>
                  <a:schemeClr val="lt1"/>
                </a:solidFill>
                <a:latin typeface="Ubuntu Mono"/>
              </a:rPr>
              <a:t> Shift from general accounting to "Batch-Level Profitability”, allowing precise calculation of net margins after factoring in specific return logistics and disposal fees.</a:t>
            </a:r>
            <a:endParaRPr b="0" lang="en-IN" sz="2200" spc="-1" strike="noStrike">
              <a:solidFill>
                <a:srgbClr val="000000"/>
              </a:solidFill>
              <a:latin typeface="Arial"/>
            </a:endParaRPr>
          </a:p>
          <a:p>
            <a:pPr>
              <a:lnSpc>
                <a:spcPct val="100000"/>
              </a:lnSpc>
            </a:pPr>
            <a:endParaRPr b="0" lang="en-IN" sz="1000" spc="-1" strike="noStrike">
              <a:solidFill>
                <a:srgbClr val="000000"/>
              </a:solidFill>
              <a:latin typeface="Arial"/>
            </a:endParaRPr>
          </a:p>
        </p:txBody>
      </p:sp>
      <p:sp>
        <p:nvSpPr>
          <p:cNvPr id="57"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pPr>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Text 0"/>
          <p:cNvSpPr/>
          <p:nvPr/>
        </p:nvSpPr>
        <p:spPr>
          <a:xfrm>
            <a:off x="2332440" y="1613160"/>
            <a:ext cx="9659880" cy="449640"/>
          </a:xfrm>
          <a:prstGeom prst="rect">
            <a:avLst/>
          </a:prstGeom>
          <a:noFill/>
          <a:ln w="0">
            <a:noFill/>
          </a:ln>
        </p:spPr>
        <p:style>
          <a:lnRef idx="0"/>
          <a:fillRef idx="0"/>
          <a:effectRef idx="0"/>
          <a:fontRef idx="minor"/>
        </p:style>
        <p:txBody>
          <a:bodyPr wrap="none" lIns="0" rIns="0" tIns="0" bIns="0" anchor="t">
            <a:noAutofit/>
          </a:bodyPr>
          <a:p>
            <a:pPr>
              <a:lnSpc>
                <a:spcPts val="3549"/>
              </a:lnSpc>
              <a:tabLst>
                <a:tab algn="l" pos="0"/>
              </a:tabLst>
            </a:pPr>
            <a:r>
              <a:rPr b="1" lang="en-US" sz="2800" spc="-1" strike="noStrike">
                <a:solidFill>
                  <a:srgbClr val="ffe14d"/>
                </a:solidFill>
                <a:latin typeface="Comfortaa Bold"/>
                <a:ea typeface="Comfortaa Bold"/>
              </a:rPr>
              <a:t>Revenue Leakage in Pharmaceutical Supply Chains</a:t>
            </a:r>
            <a:endParaRPr b="0" lang="en-IN" sz="2800" spc="-1" strike="noStrike">
              <a:solidFill>
                <a:srgbClr val="000000"/>
              </a:solidFill>
              <a:latin typeface="Arial"/>
            </a:endParaRPr>
          </a:p>
        </p:txBody>
      </p:sp>
      <p:pic>
        <p:nvPicPr>
          <p:cNvPr id="59" name="Image 0" descr="preencoded.png"/>
          <p:cNvPicPr/>
          <p:nvPr/>
        </p:nvPicPr>
        <p:blipFill>
          <a:blip r:embed="rId1"/>
          <a:stretch/>
        </p:blipFill>
        <p:spPr>
          <a:xfrm>
            <a:off x="2332440" y="2382120"/>
            <a:ext cx="6337080" cy="3547800"/>
          </a:xfrm>
          <a:prstGeom prst="rect">
            <a:avLst/>
          </a:prstGeom>
          <a:ln w="0">
            <a:noFill/>
          </a:ln>
        </p:spPr>
      </p:pic>
      <p:sp>
        <p:nvSpPr>
          <p:cNvPr id="60" name="Text 1"/>
          <p:cNvSpPr/>
          <p:nvPr/>
        </p:nvSpPr>
        <p:spPr>
          <a:xfrm>
            <a:off x="2332440" y="6051960"/>
            <a:ext cx="6337080" cy="42912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d7d4cc"/>
                </a:solidFill>
                <a:latin typeface="Raleway Medium"/>
                <a:ea typeface="Raleway Medium"/>
              </a:rPr>
              <a:t>Source: Industry estimates on Reverse Logistics inefficiencies (Narayana et al., 2014; PMC Case Studies). Total impact: ~11% of annual revenue.</a:t>
            </a:r>
            <a:endParaRPr b="0" lang="en-IN" sz="1250" spc="-1" strike="noStrike">
              <a:solidFill>
                <a:srgbClr val="000000"/>
              </a:solidFill>
              <a:latin typeface="Arial"/>
            </a:endParaRPr>
          </a:p>
        </p:txBody>
      </p:sp>
      <p:sp>
        <p:nvSpPr>
          <p:cNvPr id="61" name="Text 2"/>
          <p:cNvSpPr/>
          <p:nvPr/>
        </p:nvSpPr>
        <p:spPr>
          <a:xfrm>
            <a:off x="9075240" y="2331720"/>
            <a:ext cx="2499480" cy="22392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ffe14d"/>
                </a:solidFill>
                <a:latin typeface="Comfortaa Bold"/>
                <a:ea typeface="Comfortaa Bold"/>
              </a:rPr>
              <a:t>Understanding the Losses</a:t>
            </a:r>
            <a:endParaRPr b="0" lang="en-IN" sz="1400" spc="-1" strike="noStrike">
              <a:solidFill>
                <a:srgbClr val="000000"/>
              </a:solidFill>
              <a:latin typeface="Arial"/>
            </a:endParaRPr>
          </a:p>
        </p:txBody>
      </p:sp>
      <p:sp>
        <p:nvSpPr>
          <p:cNvPr id="62" name="Text 3"/>
          <p:cNvSpPr/>
          <p:nvPr/>
        </p:nvSpPr>
        <p:spPr>
          <a:xfrm>
            <a:off x="9075240" y="2664360"/>
            <a:ext cx="3228480" cy="107568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d7d4cc"/>
                </a:solidFill>
                <a:latin typeface="Raleway Medium"/>
                <a:ea typeface="Raleway Medium"/>
              </a:rPr>
              <a:t>This chart illustrates key areas of revenue leakage within the pharmaceutical supply chain. </a:t>
            </a:r>
            <a:r>
              <a:rPr b="1" lang="en-US" sz="1250" spc="-1" strike="noStrike">
                <a:solidFill>
                  <a:srgbClr val="d7d4cc"/>
                </a:solidFill>
                <a:latin typeface="Raleway Medium"/>
                <a:ea typeface="Raleway Medium"/>
              </a:rPr>
              <a:t>Expiry</a:t>
            </a:r>
            <a:r>
              <a:rPr b="0" lang="en-US" sz="1250" spc="-1" strike="noStrike">
                <a:solidFill>
                  <a:srgbClr val="d7d4cc"/>
                </a:solidFill>
                <a:latin typeface="Raleway Medium"/>
                <a:ea typeface="Raleway Medium"/>
              </a:rPr>
              <a:t>, accounting for </a:t>
            </a:r>
            <a:r>
              <a:rPr b="0" lang="en-US" sz="1250" spc="-1" strike="noStrike">
                <a:solidFill>
                  <a:srgbClr val="dc143c"/>
                </a:solidFill>
                <a:latin typeface="Raleway Medium"/>
                <a:ea typeface="Raleway Medium"/>
              </a:rPr>
              <a:t>4.5%</a:t>
            </a:r>
            <a:r>
              <a:rPr b="0" lang="en-US" sz="1250" spc="-1" strike="noStrike">
                <a:solidFill>
                  <a:srgbClr val="d7d4cc"/>
                </a:solidFill>
                <a:latin typeface="Raleway Medium"/>
                <a:ea typeface="Raleway Medium"/>
              </a:rPr>
              <a:t> of total revenue, represents the largest single area of loss.</a:t>
            </a:r>
            <a:endParaRPr b="0" lang="en-IN" sz="1250" spc="-1" strike="noStrike">
              <a:solidFill>
                <a:srgbClr val="000000"/>
              </a:solidFill>
              <a:latin typeface="Arial"/>
            </a:endParaRPr>
          </a:p>
        </p:txBody>
      </p:sp>
      <p:sp>
        <p:nvSpPr>
          <p:cNvPr id="63" name="Text 4"/>
          <p:cNvSpPr/>
          <p:nvPr/>
        </p:nvSpPr>
        <p:spPr>
          <a:xfrm>
            <a:off x="9075240" y="3837960"/>
            <a:ext cx="3228480" cy="150660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d7d4cc"/>
                </a:solidFill>
                <a:latin typeface="Raleway Medium"/>
                <a:ea typeface="Raleway Medium"/>
              </a:rPr>
              <a:t>This significant percentage highlights a critical inefficiency, making it the </a:t>
            </a:r>
            <a:r>
              <a:rPr b="0" lang="en-US" sz="1250" spc="-1" strike="noStrike">
                <a:solidFill>
                  <a:srgbClr val="000000"/>
                </a:solidFill>
                <a:highlight>
                  <a:srgbClr val="ffff00"/>
                </a:highlight>
                <a:latin typeface="Raleway Medium"/>
                <a:ea typeface="Raleway Medium"/>
              </a:rPr>
              <a:t>primary target area for PharmaChain's intervention</a:t>
            </a:r>
            <a:r>
              <a:rPr b="0" lang="en-US" sz="1250" spc="-1" strike="noStrike">
                <a:solidFill>
                  <a:srgbClr val="d7d4cc"/>
                </a:solidFill>
                <a:latin typeface="Raleway Medium"/>
                <a:ea typeface="Raleway Medium"/>
              </a:rPr>
              <a:t>. Our system aims for a </a:t>
            </a:r>
            <a:r>
              <a:rPr b="1" lang="en-US" sz="1250" spc="-1" strike="noStrike">
                <a:solidFill>
                  <a:srgbClr val="d7d4cc"/>
                </a:solidFill>
                <a:latin typeface="Raleway Medium"/>
                <a:ea typeface="Raleway Medium"/>
              </a:rPr>
              <a:t>potential 40% recovery</a:t>
            </a:r>
            <a:r>
              <a:rPr b="0" lang="en-US" sz="1250" spc="-1" strike="noStrike">
                <a:solidFill>
                  <a:srgbClr val="d7d4cc"/>
                </a:solidFill>
                <a:latin typeface="Raleway Medium"/>
                <a:ea typeface="Raleway Medium"/>
              </a:rPr>
              <a:t> in this category through automated reverse logistics and enhanced traceability. The 40% recovery in this case refers to solving issues caused by human made errors which were estimated to be about 40% from the given research paper.</a:t>
            </a:r>
            <a:endParaRPr b="0" lang="en-IN" sz="1250" spc="-1" strike="noStrike">
              <a:solidFill>
                <a:srgbClr val="000000"/>
              </a:solidFill>
              <a:latin typeface="Arial"/>
            </a:endParaRPr>
          </a:p>
        </p:txBody>
      </p:sp>
      <p:sp>
        <p:nvSpPr>
          <p:cNvPr id="64" name="Text 5"/>
          <p:cNvSpPr/>
          <p:nvPr/>
        </p:nvSpPr>
        <p:spPr>
          <a:xfrm>
            <a:off x="9075240" y="6300000"/>
            <a:ext cx="3228480" cy="107568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d7d4cc"/>
                </a:solidFill>
                <a:latin typeface="Raleway Medium"/>
                <a:ea typeface="Raleway Medium"/>
              </a:rPr>
              <a:t>Other substantial losses include </a:t>
            </a:r>
            <a:r>
              <a:rPr b="1" lang="en-US" sz="1250" spc="-1" strike="noStrike">
                <a:solidFill>
                  <a:srgbClr val="d7d4cc"/>
                </a:solidFill>
                <a:latin typeface="Raleway Medium"/>
                <a:ea typeface="Raleway Medium"/>
              </a:rPr>
              <a:t>Returns Processing Costs</a:t>
            </a:r>
            <a:r>
              <a:rPr b="0" lang="en-US" sz="1250" spc="-1" strike="noStrike">
                <a:solidFill>
                  <a:srgbClr val="d7d4cc"/>
                </a:solidFill>
                <a:latin typeface="Raleway Medium"/>
                <a:ea typeface="Raleway Medium"/>
              </a:rPr>
              <a:t>, </a:t>
            </a:r>
            <a:r>
              <a:rPr b="1" lang="en-US" sz="1250" spc="-1" strike="noStrike">
                <a:solidFill>
                  <a:srgbClr val="d7d4cc"/>
                </a:solidFill>
                <a:latin typeface="Raleway Medium"/>
                <a:ea typeface="Raleway Medium"/>
              </a:rPr>
              <a:t>Counterfeiting/Theft</a:t>
            </a:r>
            <a:r>
              <a:rPr b="0" lang="en-US" sz="1250" spc="-1" strike="noStrike">
                <a:solidFill>
                  <a:srgbClr val="d7d4cc"/>
                </a:solidFill>
                <a:latin typeface="Raleway Medium"/>
                <a:ea typeface="Raleway Medium"/>
              </a:rPr>
              <a:t>, and </a:t>
            </a:r>
            <a:r>
              <a:rPr b="1" lang="en-US" sz="1250" spc="-1" strike="noStrike">
                <a:solidFill>
                  <a:srgbClr val="d7d4cc"/>
                </a:solidFill>
                <a:latin typeface="Raleway Medium"/>
                <a:ea typeface="Raleway Medium"/>
              </a:rPr>
              <a:t>Inventory Holding Costs</a:t>
            </a:r>
            <a:r>
              <a:rPr b="0" lang="en-US" sz="1250" spc="-1" strike="noStrike">
                <a:solidFill>
                  <a:srgbClr val="d7d4cc"/>
                </a:solidFill>
                <a:latin typeface="Raleway Medium"/>
                <a:ea typeface="Raleway Medium"/>
              </a:rPr>
              <a:t>, all contributing to the overall ~11% annual revenue impact.</a:t>
            </a:r>
            <a:endParaRPr b="0" lang="en-IN" sz="1250" spc="-1" strike="noStrike">
              <a:solidFill>
                <a:srgbClr val="000000"/>
              </a:solidFill>
              <a:latin typeface="Arial"/>
            </a:endParaRPr>
          </a:p>
        </p:txBody>
      </p:sp>
      <p:sp>
        <p:nvSpPr>
          <p:cNvPr id="65"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endParaRPr b="0" lang="en-IN" sz="1800" spc="-1" strike="noStrike">
              <a:solidFill>
                <a:srgbClr val="ffffff"/>
              </a:solidFill>
              <a:latin typeface="Arial"/>
            </a:endParaRPr>
          </a:p>
        </p:txBody>
      </p:sp>
      <p:sp useBgFill="1">
        <p:nvSpPr>
          <p:cNvPr id="66" name=""/>
          <p:cNvSpPr/>
          <p:nvPr/>
        </p:nvSpPr>
        <p:spPr>
          <a:xfrm>
            <a:off x="0" y="7509600"/>
            <a:ext cx="14578560" cy="718560"/>
          </a:xfrm>
          <a:prstGeom prst="rect">
            <a:avLst/>
          </a:prstGeom>
          <a:ln w="0">
            <a:noFill/>
          </a:ln>
        </p:spPr>
        <p:style>
          <a:lnRef idx="0"/>
          <a:fillRef idx="0"/>
          <a:effectRef idx="0"/>
          <a:fontRef idx="minor"/>
        </p:style>
        <p:txBody>
          <a:bodyPr lIns="90000" rIns="90000" tIns="45000" bIns="45000" anchor="ctr">
            <a:noAutofit/>
          </a:bodyPr>
          <a:p>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Image 0" descr="preencoded.png"/>
          <p:cNvPicPr/>
          <p:nvPr/>
        </p:nvPicPr>
        <p:blipFill>
          <a:blip r:embed="rId1"/>
          <a:stretch/>
        </p:blipFill>
        <p:spPr>
          <a:xfrm>
            <a:off x="9144000" y="0"/>
            <a:ext cx="5484600" cy="8227800"/>
          </a:xfrm>
          <a:prstGeom prst="rect">
            <a:avLst/>
          </a:prstGeom>
          <a:ln w="0">
            <a:noFill/>
          </a:ln>
        </p:spPr>
      </p:pic>
      <p:sp>
        <p:nvSpPr>
          <p:cNvPr id="68" name="Shape 0"/>
          <p:cNvSpPr/>
          <p:nvPr/>
        </p:nvSpPr>
        <p:spPr>
          <a:xfrm>
            <a:off x="761040" y="1132200"/>
            <a:ext cx="2350440" cy="390240"/>
          </a:xfrm>
          <a:prstGeom prst="roundRect">
            <a:avLst>
              <a:gd name="adj" fmla="val 66585"/>
            </a:avLst>
          </a:prstGeom>
          <a:solidFill>
            <a:srgbClr val="4d4000"/>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9" name="Text 1"/>
          <p:cNvSpPr/>
          <p:nvPr/>
        </p:nvSpPr>
        <p:spPr>
          <a:xfrm>
            <a:off x="891720" y="1197360"/>
            <a:ext cx="2089440" cy="25992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350" spc="-1" strike="noStrike">
                <a:solidFill>
                  <a:srgbClr val="d7d4cc"/>
                </a:solidFill>
                <a:latin typeface="Raleway Medium"/>
                <a:ea typeface="Raleway Medium"/>
              </a:rPr>
              <a:t>RESEARCH FOUNDATION</a:t>
            </a:r>
            <a:endParaRPr b="0" lang="en-IN" sz="1350" spc="-1" strike="noStrike">
              <a:solidFill>
                <a:srgbClr val="000000"/>
              </a:solidFill>
              <a:latin typeface="Arial"/>
            </a:endParaRPr>
          </a:p>
        </p:txBody>
      </p:sp>
      <p:sp>
        <p:nvSpPr>
          <p:cNvPr id="70" name="Text 2"/>
          <p:cNvSpPr/>
          <p:nvPr/>
        </p:nvSpPr>
        <p:spPr>
          <a:xfrm>
            <a:off x="761040" y="1600920"/>
            <a:ext cx="5947560" cy="602280"/>
          </a:xfrm>
          <a:prstGeom prst="rect">
            <a:avLst/>
          </a:prstGeom>
          <a:noFill/>
          <a:ln w="0">
            <a:noFill/>
          </a:ln>
        </p:spPr>
        <p:style>
          <a:lnRef idx="0"/>
          <a:fillRef idx="0"/>
          <a:effectRef idx="0"/>
          <a:fontRef idx="minor"/>
        </p:style>
        <p:txBody>
          <a:bodyPr wrap="none" lIns="0" rIns="0" tIns="0" bIns="0" anchor="t">
            <a:noAutofit/>
          </a:bodyPr>
          <a:p>
            <a:pPr>
              <a:lnSpc>
                <a:spcPts val="4751"/>
              </a:lnSpc>
              <a:tabLst>
                <a:tab algn="l" pos="0"/>
              </a:tabLst>
            </a:pPr>
            <a:r>
              <a:rPr b="1" lang="en-US" sz="3800" spc="-1" strike="noStrike">
                <a:solidFill>
                  <a:srgbClr val="ffe14d"/>
                </a:solidFill>
                <a:latin typeface="Comfortaa Bold"/>
                <a:ea typeface="Comfortaa Bold"/>
              </a:rPr>
              <a:t>Evidence-Based Design</a:t>
            </a:r>
            <a:endParaRPr b="0" lang="en-IN" sz="3800" spc="-1" strike="noStrike">
              <a:solidFill>
                <a:srgbClr val="000000"/>
              </a:solidFill>
              <a:latin typeface="Arial"/>
            </a:endParaRPr>
          </a:p>
        </p:txBody>
      </p:sp>
      <p:sp>
        <p:nvSpPr>
          <p:cNvPr id="71" name="Text 3"/>
          <p:cNvSpPr/>
          <p:nvPr/>
        </p:nvSpPr>
        <p:spPr>
          <a:xfrm>
            <a:off x="761040" y="2683800"/>
            <a:ext cx="3543840" cy="6022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1" lang="en-US" sz="1900" spc="-1" strike="noStrike">
                <a:solidFill>
                  <a:srgbClr val="ffe14d"/>
                </a:solidFill>
                <a:latin typeface="Comfortaa Bold"/>
                <a:ea typeface="Comfortaa Bold"/>
              </a:rPr>
              <a:t>PMC7868907: Closed-Loop  Analysis</a:t>
            </a:r>
            <a:endParaRPr b="0" lang="en-IN" sz="1900" spc="-1" strike="noStrike">
              <a:solidFill>
                <a:srgbClr val="000000"/>
              </a:solidFill>
              <a:latin typeface="Arial"/>
            </a:endParaRPr>
          </a:p>
        </p:txBody>
      </p:sp>
      <p:sp>
        <p:nvSpPr>
          <p:cNvPr id="72" name="Text 4"/>
          <p:cNvSpPr/>
          <p:nvPr/>
        </p:nvSpPr>
        <p:spPr>
          <a:xfrm>
            <a:off x="761040" y="3479400"/>
            <a:ext cx="3543840" cy="1634760"/>
          </a:xfrm>
          <a:prstGeom prst="rect">
            <a:avLst/>
          </a:prstGeom>
          <a:noFill/>
          <a:ln w="0">
            <a:noFill/>
          </a:ln>
        </p:spPr>
        <p:style>
          <a:lnRef idx="0"/>
          <a:fillRef idx="0"/>
          <a:effectRef idx="0"/>
          <a:fontRef idx="minor"/>
        </p:style>
        <p:txBody>
          <a:bodyPr lIns="0" rIns="0" tIns="0" bIns="0" anchor="t">
            <a:noAutofit/>
          </a:bodyPr>
          <a:p>
            <a:pPr>
              <a:lnSpc>
                <a:spcPts val="2551"/>
              </a:lnSpc>
              <a:spcBef>
                <a:spcPts val="624"/>
              </a:spcBef>
              <a:spcAft>
                <a:spcPts val="425"/>
              </a:spcAft>
              <a:tabLst>
                <a:tab algn="l" pos="0"/>
              </a:tabLst>
            </a:pPr>
            <a:r>
              <a:rPr b="0" lang="en-US" sz="1500" spc="-1" strike="noStrike">
                <a:solidFill>
                  <a:srgbClr val="d7d4cc"/>
                </a:solidFill>
                <a:latin typeface="Raleway Medium"/>
                <a:ea typeface="Raleway Medium"/>
              </a:rPr>
              <a:t>This paper used a logic method DEMATEL to rank the biggest "barriers" that make reverse logistics fail. It found that poor return policies and lack of infrastructure are the main reasons supply chains lose money.</a:t>
            </a:r>
            <a:endParaRPr b="0" lang="en-IN" sz="1500" spc="-1" strike="noStrike">
              <a:solidFill>
                <a:srgbClr val="000000"/>
              </a:solidFill>
              <a:latin typeface="Arial"/>
              <a:ea typeface="Noto Sans CJK SC"/>
            </a:endParaRPr>
          </a:p>
        </p:txBody>
      </p:sp>
      <p:sp>
        <p:nvSpPr>
          <p:cNvPr id="73" name="Text 5"/>
          <p:cNvSpPr/>
          <p:nvPr/>
        </p:nvSpPr>
        <p:spPr>
          <a:xfrm>
            <a:off x="720000" y="5580000"/>
            <a:ext cx="3543840" cy="1634760"/>
          </a:xfrm>
          <a:prstGeom prst="rect">
            <a:avLst/>
          </a:prstGeom>
          <a:noFill/>
          <a:ln w="0">
            <a:noFill/>
          </a:ln>
        </p:spPr>
        <p:style>
          <a:lnRef idx="0"/>
          <a:fillRef idx="0"/>
          <a:effectRef idx="0"/>
          <a:fontRef idx="minor"/>
        </p:style>
        <p:txBody>
          <a:bodyPr lIns="0" rIns="0" tIns="0" bIns="0" anchor="t">
            <a:noAutofit/>
          </a:bodyPr>
          <a:p>
            <a:pPr>
              <a:lnSpc>
                <a:spcPts val="2551"/>
              </a:lnSpc>
              <a:spcBef>
                <a:spcPts val="1191"/>
              </a:spcBef>
              <a:spcAft>
                <a:spcPts val="992"/>
              </a:spcAft>
              <a:tabLst>
                <a:tab algn="l" pos="0"/>
              </a:tabLst>
            </a:pPr>
            <a:r>
              <a:rPr b="0" lang="en-US" sz="1500" spc="-1" strike="noStrike">
                <a:solidFill>
                  <a:srgbClr val="d7d4cc"/>
                </a:solidFill>
                <a:latin typeface="Raleway Medium"/>
                <a:ea typeface="Raleway Medium"/>
              </a:rPr>
              <a:t>Returns are messy. If you don't have a strict rule for how to return something, bad drugs get mixed with good ones. The paper proved that you need to separate "Quarantine" items from "Saleable" items immediately</a:t>
            </a:r>
            <a:endParaRPr b="0" lang="en-IN" sz="1500" spc="-1" strike="noStrike">
              <a:solidFill>
                <a:srgbClr val="000000"/>
              </a:solidFill>
              <a:latin typeface="Arial"/>
            </a:endParaRPr>
          </a:p>
        </p:txBody>
      </p:sp>
      <p:sp>
        <p:nvSpPr>
          <p:cNvPr id="74" name="Text 6"/>
          <p:cNvSpPr/>
          <p:nvPr/>
        </p:nvSpPr>
        <p:spPr>
          <a:xfrm>
            <a:off x="4844880" y="2683800"/>
            <a:ext cx="3543840" cy="6022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1" lang="en-US" sz="1900" spc="-1" strike="noStrike">
                <a:solidFill>
                  <a:srgbClr val="ffe14d"/>
                </a:solidFill>
                <a:latin typeface="Comfortaa Bold"/>
                <a:ea typeface="Comfortaa Bold"/>
              </a:rPr>
              <a:t>PMC6706717: Traceability Standards</a:t>
            </a:r>
            <a:endParaRPr b="0" lang="en-IN" sz="1900" spc="-1" strike="noStrike">
              <a:solidFill>
                <a:srgbClr val="000000"/>
              </a:solidFill>
              <a:latin typeface="Arial"/>
            </a:endParaRPr>
          </a:p>
        </p:txBody>
      </p:sp>
      <p:sp>
        <p:nvSpPr>
          <p:cNvPr id="75" name="Text 7"/>
          <p:cNvSpPr/>
          <p:nvPr/>
        </p:nvSpPr>
        <p:spPr>
          <a:xfrm>
            <a:off x="4844880" y="3420000"/>
            <a:ext cx="3543840" cy="1634760"/>
          </a:xfrm>
          <a:prstGeom prst="rect">
            <a:avLst/>
          </a:prstGeom>
          <a:noFill/>
          <a:ln w="0">
            <a:noFill/>
          </a:ln>
        </p:spPr>
        <p:style>
          <a:lnRef idx="0"/>
          <a:fillRef idx="0"/>
          <a:effectRef idx="0"/>
          <a:fontRef idx="minor"/>
        </p:style>
        <p:txBody>
          <a:bodyPr lIns="0" rIns="0" tIns="0" bIns="0" anchor="t">
            <a:noAutofit/>
          </a:bodyPr>
          <a:p>
            <a:pPr>
              <a:lnSpc>
                <a:spcPts val="2551"/>
              </a:lnSpc>
              <a:spcBef>
                <a:spcPts val="1191"/>
              </a:spcBef>
              <a:spcAft>
                <a:spcPts val="992"/>
              </a:spcAft>
              <a:tabLst>
                <a:tab algn="l" pos="0"/>
              </a:tabLst>
            </a:pPr>
            <a:r>
              <a:rPr b="0" lang="en-US" sz="1500" spc="-1" strike="noStrike">
                <a:solidFill>
                  <a:srgbClr val="d7d4cc"/>
                </a:solidFill>
                <a:latin typeface="Raleway Medium"/>
                <a:ea typeface="Raleway Medium"/>
              </a:rPr>
              <a:t>This paper deals with "Blind Spots." It explains that recalls fail because the Manufacturer knows a batch is bad, but the Retailer doesn't know until it's too late. This is called "Information Asymmetry".</a:t>
            </a:r>
            <a:endParaRPr b="0" lang="en-IN" sz="1500" spc="-1" strike="noStrike">
              <a:solidFill>
                <a:srgbClr val="000000"/>
              </a:solidFill>
              <a:latin typeface="Arial"/>
            </a:endParaRPr>
          </a:p>
        </p:txBody>
      </p:sp>
      <p:sp>
        <p:nvSpPr>
          <p:cNvPr id="76" name="Text 8"/>
          <p:cNvSpPr/>
          <p:nvPr/>
        </p:nvSpPr>
        <p:spPr>
          <a:xfrm>
            <a:off x="4844880" y="5565240"/>
            <a:ext cx="3543840" cy="16347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500" spc="-1" strike="noStrike">
                <a:solidFill>
                  <a:srgbClr val="d7d4cc"/>
                </a:solidFill>
                <a:latin typeface="Raleway Medium"/>
                <a:ea typeface="Raleway Medium"/>
              </a:rPr>
              <a:t>Our central Batch Pedigree table solves the "information asymmetry" problem by connecting every stakeholder with real-time visibility.</a:t>
            </a:r>
            <a:endParaRPr b="0" lang="en-IN"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p:nvPr/>
        </p:nvSpPr>
        <p:spPr>
          <a:xfrm>
            <a:off x="12780000" y="7509600"/>
            <a:ext cx="18489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endParaRPr b="0" lang="en-IN" sz="1800" spc="-1" strike="noStrike">
              <a:solidFill>
                <a:srgbClr val="ffffff"/>
              </a:solidFill>
              <a:latin typeface="Arial"/>
            </a:endParaRPr>
          </a:p>
        </p:txBody>
      </p:sp>
      <p:sp>
        <p:nvSpPr>
          <p:cNvPr id="78" name=""/>
          <p:cNvSpPr txBox="1"/>
          <p:nvPr/>
        </p:nvSpPr>
        <p:spPr>
          <a:xfrm>
            <a:off x="3960000" y="360000"/>
            <a:ext cx="6120000" cy="540000"/>
          </a:xfrm>
          <a:prstGeom prst="rect">
            <a:avLst/>
          </a:prstGeom>
          <a:noFill/>
          <a:ln w="0">
            <a:noFill/>
          </a:ln>
        </p:spPr>
        <p:txBody>
          <a:bodyPr lIns="90000" rIns="90000" tIns="45000" bIns="45000" anchor="t">
            <a:noAutofit/>
          </a:bodyPr>
          <a:p>
            <a:pPr algn="ctr"/>
            <a:r>
              <a:rPr b="0" lang="en-IN" sz="1800" spc="-1" strike="noStrike">
                <a:solidFill>
                  <a:srgbClr val="ffffff"/>
                </a:solidFill>
                <a:latin typeface="Arial"/>
              </a:rPr>
              <a:t>DFD Level - 0</a:t>
            </a:r>
            <a:endParaRPr b="0" lang="en-IN" sz="1800" spc="-1" strike="noStrike">
              <a:solidFill>
                <a:srgbClr val="ffffff"/>
              </a:solidFill>
              <a:latin typeface="Arial"/>
            </a:endParaRPr>
          </a:p>
        </p:txBody>
      </p:sp>
      <p:pic>
        <p:nvPicPr>
          <p:cNvPr id="79" name="" descr=""/>
          <p:cNvPicPr/>
          <p:nvPr/>
        </p:nvPicPr>
        <p:blipFill>
          <a:blip r:embed="rId1"/>
          <a:stretch/>
        </p:blipFill>
        <p:spPr>
          <a:xfrm>
            <a:off x="1260000" y="1040040"/>
            <a:ext cx="11900880" cy="65199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
          <p:cNvSpPr/>
          <p:nvPr/>
        </p:nvSpPr>
        <p:spPr>
          <a:xfrm>
            <a:off x="12780000" y="7509600"/>
            <a:ext cx="18489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endParaRPr b="0" lang="en-IN" sz="1800" spc="-1" strike="noStrike">
              <a:solidFill>
                <a:srgbClr val="ffffff"/>
              </a:solidFill>
              <a:latin typeface="Arial"/>
            </a:endParaRPr>
          </a:p>
        </p:txBody>
      </p:sp>
      <p:sp>
        <p:nvSpPr>
          <p:cNvPr id="81" name=""/>
          <p:cNvSpPr txBox="1"/>
          <p:nvPr/>
        </p:nvSpPr>
        <p:spPr>
          <a:xfrm>
            <a:off x="4140000" y="180000"/>
            <a:ext cx="6120000" cy="540000"/>
          </a:xfrm>
          <a:prstGeom prst="rect">
            <a:avLst/>
          </a:prstGeom>
          <a:noFill/>
          <a:ln w="0">
            <a:noFill/>
          </a:ln>
        </p:spPr>
        <p:txBody>
          <a:bodyPr lIns="90000" rIns="90000" tIns="45000" bIns="45000" anchor="t">
            <a:noAutofit/>
          </a:bodyPr>
          <a:p>
            <a:pPr algn="ctr"/>
            <a:r>
              <a:rPr b="0" lang="en-IN" sz="1800" spc="-1" strike="noStrike">
                <a:solidFill>
                  <a:srgbClr val="ffffff"/>
                </a:solidFill>
                <a:latin typeface="Arial"/>
              </a:rPr>
              <a:t>DFD Level - 1</a:t>
            </a:r>
            <a:endParaRPr b="0" lang="en-IN" sz="1800" spc="-1" strike="noStrike">
              <a:solidFill>
                <a:srgbClr val="ffffff"/>
              </a:solidFill>
              <a:latin typeface="Arial"/>
            </a:endParaRPr>
          </a:p>
        </p:txBody>
      </p:sp>
      <p:pic>
        <p:nvPicPr>
          <p:cNvPr id="82" name="" descr=""/>
          <p:cNvPicPr/>
          <p:nvPr/>
        </p:nvPicPr>
        <p:blipFill>
          <a:blip r:embed="rId1"/>
          <a:stretch/>
        </p:blipFill>
        <p:spPr>
          <a:xfrm>
            <a:off x="1440000" y="720000"/>
            <a:ext cx="11880000" cy="75096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Shape 0"/>
          <p:cNvSpPr/>
          <p:nvPr/>
        </p:nvSpPr>
        <p:spPr>
          <a:xfrm>
            <a:off x="3357360" y="849240"/>
            <a:ext cx="1357200" cy="201240"/>
          </a:xfrm>
          <a:prstGeom prst="roundRect">
            <a:avLst>
              <a:gd name="adj" fmla="val 76247"/>
            </a:avLst>
          </a:prstGeom>
          <a:solidFill>
            <a:srgbClr val="4d4000"/>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84" name="Text 1"/>
          <p:cNvSpPr/>
          <p:nvPr/>
        </p:nvSpPr>
        <p:spPr>
          <a:xfrm>
            <a:off x="3434760" y="887760"/>
            <a:ext cx="1202400" cy="123840"/>
          </a:xfrm>
          <a:prstGeom prst="rect">
            <a:avLst/>
          </a:prstGeom>
          <a:noFill/>
          <a:ln w="0">
            <a:noFill/>
          </a:ln>
        </p:spPr>
        <p:style>
          <a:lnRef idx="0"/>
          <a:fillRef idx="0"/>
          <a:effectRef idx="0"/>
          <a:fontRef idx="minor"/>
        </p:style>
        <p:txBody>
          <a:bodyPr wrap="none" lIns="0" rIns="0" tIns="0" bIns="0" anchor="t">
            <a:noAutofit/>
          </a:bodyPr>
          <a:p>
            <a:pPr>
              <a:lnSpc>
                <a:spcPts val="950"/>
              </a:lnSpc>
              <a:tabLst>
                <a:tab algn="l" pos="0"/>
              </a:tabLst>
            </a:pPr>
            <a:r>
              <a:rPr b="0" lang="en-US" sz="800" spc="-1" strike="noStrike">
                <a:solidFill>
                  <a:srgbClr val="d7d4cc"/>
                </a:solidFill>
                <a:latin typeface="Raleway Medium"/>
                <a:ea typeface="Raleway Medium"/>
              </a:rPr>
              <a:t>SYSTEM ARCHITECTURE</a:t>
            </a:r>
            <a:endParaRPr b="0" lang="en-IN" sz="800" spc="-1" strike="noStrike">
              <a:solidFill>
                <a:srgbClr val="000000"/>
              </a:solidFill>
              <a:latin typeface="Arial"/>
            </a:endParaRPr>
          </a:p>
        </p:txBody>
      </p:sp>
      <p:sp>
        <p:nvSpPr>
          <p:cNvPr id="85" name="Text 2"/>
          <p:cNvSpPr/>
          <p:nvPr/>
        </p:nvSpPr>
        <p:spPr>
          <a:xfrm>
            <a:off x="3357360" y="1079280"/>
            <a:ext cx="3974400" cy="356760"/>
          </a:xfrm>
          <a:prstGeom prst="rect">
            <a:avLst/>
          </a:prstGeom>
          <a:noFill/>
          <a:ln w="0">
            <a:noFill/>
          </a:ln>
        </p:spPr>
        <p:style>
          <a:lnRef idx="0"/>
          <a:fillRef idx="0"/>
          <a:effectRef idx="0"/>
          <a:fontRef idx="minor"/>
        </p:style>
        <p:txBody>
          <a:bodyPr wrap="none" lIns="0" rIns="0" tIns="0" bIns="0" anchor="t">
            <a:noAutofit/>
          </a:bodyPr>
          <a:p>
            <a:pPr>
              <a:lnSpc>
                <a:spcPts val="2801"/>
              </a:lnSpc>
              <a:tabLst>
                <a:tab algn="l" pos="0"/>
              </a:tabLst>
            </a:pPr>
            <a:r>
              <a:rPr b="1" lang="en-US" sz="2250" spc="-1" strike="noStrike">
                <a:solidFill>
                  <a:srgbClr val="ffe14d"/>
                </a:solidFill>
                <a:latin typeface="Comfortaa Bold"/>
                <a:ea typeface="Comfortaa Bold"/>
              </a:rPr>
              <a:t>The </a:t>
            </a:r>
            <a:r>
              <a:rPr b="1" lang="en-US" sz="2250" spc="-1" strike="noStrike">
                <a:solidFill>
                  <a:srgbClr val="ffe14d"/>
                </a:solidFill>
                <a:latin typeface="Comfortaa Bold"/>
                <a:ea typeface="Comfortaa Bold"/>
              </a:rPr>
              <a:t>Architectural </a:t>
            </a:r>
            <a:r>
              <a:rPr b="1" lang="en-US" sz="2250" spc="-1" strike="noStrike">
                <a:solidFill>
                  <a:srgbClr val="ffe14d"/>
                </a:solidFill>
                <a:latin typeface="Comfortaa Bold"/>
                <a:ea typeface="Comfortaa Bold"/>
              </a:rPr>
              <a:t>Modules</a:t>
            </a:r>
            <a:endParaRPr b="0" lang="en-IN" sz="2250" spc="-1" strike="noStrike">
              <a:solidFill>
                <a:srgbClr val="000000"/>
              </a:solidFill>
              <a:latin typeface="Arial"/>
            </a:endParaRPr>
          </a:p>
        </p:txBody>
      </p:sp>
      <p:sp>
        <p:nvSpPr>
          <p:cNvPr id="86" name="Text 3"/>
          <p:cNvSpPr/>
          <p:nvPr/>
        </p:nvSpPr>
        <p:spPr>
          <a:xfrm>
            <a:off x="3357360" y="1620000"/>
            <a:ext cx="3297240" cy="17748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1" lang="en-US" sz="1100" spc="-1" strike="noStrike">
                <a:solidFill>
                  <a:srgbClr val="ffe14d"/>
                </a:solidFill>
                <a:latin typeface="Comfortaa Bold"/>
                <a:ea typeface="Comfortaa Bold"/>
              </a:rPr>
              <a:t>Tables we have thought so far</a:t>
            </a:r>
            <a:endParaRPr b="0" lang="en-IN" sz="1100" spc="-1" strike="noStrike">
              <a:solidFill>
                <a:srgbClr val="000000"/>
              </a:solidFill>
              <a:latin typeface="Arial"/>
            </a:endParaRPr>
          </a:p>
        </p:txBody>
      </p:sp>
      <p:sp>
        <p:nvSpPr>
          <p:cNvPr id="87" name="Text 4"/>
          <p:cNvSpPr/>
          <p:nvPr/>
        </p:nvSpPr>
        <p:spPr>
          <a:xfrm>
            <a:off x="3357360" y="2396880"/>
            <a:ext cx="2399400" cy="19476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1" lang="en-US" sz="1250" spc="-1" strike="noStrike">
                <a:solidFill>
                  <a:srgbClr val="d7d4cc"/>
                </a:solidFill>
                <a:latin typeface="Raleway Medium"/>
                <a:ea typeface="Raleway Medium"/>
              </a:rPr>
              <a:t>Identity &amp; Governance</a:t>
            </a:r>
            <a:endParaRPr b="0" lang="en-IN" sz="1250" spc="-1" strike="noStrike">
              <a:solidFill>
                <a:srgbClr val="000000"/>
              </a:solidFill>
              <a:latin typeface="Arial"/>
            </a:endParaRPr>
          </a:p>
        </p:txBody>
      </p:sp>
      <p:sp>
        <p:nvSpPr>
          <p:cNvPr id="88" name="Text 5"/>
          <p:cNvSpPr/>
          <p:nvPr/>
        </p:nvSpPr>
        <p:spPr>
          <a:xfrm>
            <a:off x="3357360" y="2653920"/>
            <a:ext cx="2399400" cy="941400"/>
          </a:xfrm>
          <a:prstGeom prst="rect">
            <a:avLst/>
          </a:prstGeom>
          <a:noFill/>
          <a:ln w="0">
            <a:noFill/>
          </a:ln>
        </p:spPr>
        <p:style>
          <a:lnRef idx="0"/>
          <a:fillRef idx="0"/>
          <a:effectRef idx="0"/>
          <a:fontRef idx="minor"/>
        </p:style>
        <p:txBody>
          <a:bodyPr lIns="0" rIns="0" tIns="0" bIns="0" anchor="t">
            <a:noAutofit/>
          </a:bodyPr>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Organizations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Locations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User_Accounts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Access_Roles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Contact_Directory</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System_Audit_Log</a:t>
            </a:r>
            <a:endParaRPr b="0" lang="en-IN" sz="1000" spc="-1" strike="noStrike">
              <a:solidFill>
                <a:srgbClr val="000000"/>
              </a:solidFill>
              <a:latin typeface="Arial"/>
            </a:endParaRPr>
          </a:p>
        </p:txBody>
      </p:sp>
      <p:sp>
        <p:nvSpPr>
          <p:cNvPr id="89" name="Text 6"/>
          <p:cNvSpPr/>
          <p:nvPr/>
        </p:nvSpPr>
        <p:spPr>
          <a:xfrm>
            <a:off x="3357360" y="3763080"/>
            <a:ext cx="2399400" cy="375480"/>
          </a:xfrm>
          <a:prstGeom prst="rect">
            <a:avLst/>
          </a:prstGeom>
          <a:noFill/>
          <a:ln w="0">
            <a:noFill/>
          </a:ln>
        </p:spPr>
        <p:style>
          <a:lnRef idx="0"/>
          <a:fillRef idx="0"/>
          <a:effectRef idx="0"/>
          <a:fontRef idx="minor"/>
        </p:style>
        <p:txBody>
          <a:bodyPr lIns="0" rIns="0" tIns="0" bIns="0" anchor="t">
            <a:noAutofit/>
          </a:bodyPr>
          <a:p>
            <a:pPr>
              <a:lnSpc>
                <a:spcPts val="950"/>
              </a:lnSpc>
              <a:tabLst>
                <a:tab algn="l" pos="0"/>
              </a:tabLst>
            </a:pPr>
            <a:r>
              <a:rPr b="0" lang="en-US" sz="800" spc="-1" strike="noStrike">
                <a:solidFill>
                  <a:srgbClr val="d7d4cc"/>
                </a:solidFill>
                <a:latin typeface="Raleway Medium"/>
                <a:ea typeface="Raleway Medium"/>
              </a:rPr>
              <a:t>Manages user access, organizational hierarchy, and system activity </a:t>
            </a:r>
            <a:r>
              <a:rPr b="0" lang="en-US" sz="800" spc="-1" strike="noStrike">
                <a:solidFill>
                  <a:srgbClr val="d7d4cc"/>
                </a:solidFill>
                <a:latin typeface="Raleway Medium"/>
                <a:ea typeface="Raleway Medium"/>
              </a:rPr>
              <a:t>logging for security and accountability.</a:t>
            </a:r>
            <a:endParaRPr b="0" lang="en-IN" sz="800" spc="-1" strike="noStrike">
              <a:solidFill>
                <a:srgbClr val="000000"/>
              </a:solidFill>
              <a:latin typeface="Arial"/>
            </a:endParaRPr>
          </a:p>
        </p:txBody>
      </p:sp>
      <p:sp>
        <p:nvSpPr>
          <p:cNvPr id="90" name="Text 7"/>
          <p:cNvSpPr/>
          <p:nvPr/>
        </p:nvSpPr>
        <p:spPr>
          <a:xfrm>
            <a:off x="3357360" y="3677760"/>
            <a:ext cx="2399400" cy="312480"/>
          </a:xfrm>
          <a:prstGeom prst="rect">
            <a:avLst/>
          </a:prstGeom>
          <a:noFill/>
          <a:ln w="0">
            <a:noFill/>
          </a:ln>
        </p:spPr>
        <p:style>
          <a:lnRef idx="0"/>
          <a:fillRef idx="0"/>
          <a:effectRef idx="0"/>
          <a:fontRef idx="minor"/>
        </p:style>
        <p:txBody>
          <a:bodyPr lIns="0" rIns="0" tIns="0" bIns="0" anchor="t">
            <a:noAutofit/>
          </a:bodyPr>
          <a:p>
            <a:endParaRPr b="0" lang="en-US" sz="1000" spc="-1" strike="noStrike">
              <a:solidFill>
                <a:srgbClr val="000000"/>
              </a:solidFill>
              <a:latin typeface="Arial"/>
            </a:endParaRPr>
          </a:p>
        </p:txBody>
      </p:sp>
      <p:sp>
        <p:nvSpPr>
          <p:cNvPr id="91" name="Text 8"/>
          <p:cNvSpPr/>
          <p:nvPr/>
        </p:nvSpPr>
        <p:spPr>
          <a:xfrm>
            <a:off x="3357360" y="4638240"/>
            <a:ext cx="2399400" cy="19476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1" lang="en-US" sz="1250" spc="-1" strike="noStrike">
                <a:solidFill>
                  <a:srgbClr val="d7d4cc"/>
                </a:solidFill>
                <a:latin typeface="Raleway Medium"/>
                <a:ea typeface="Raleway Medium"/>
              </a:rPr>
              <a:t>Product &amp; </a:t>
            </a:r>
            <a:r>
              <a:rPr b="1" lang="en-US" sz="1250" spc="-1" strike="noStrike">
                <a:solidFill>
                  <a:srgbClr val="d7d4cc"/>
                </a:solidFill>
                <a:latin typeface="Raleway Medium"/>
                <a:ea typeface="Raleway Medium"/>
              </a:rPr>
              <a:t>Batch </a:t>
            </a:r>
            <a:r>
              <a:rPr b="1" lang="en-US" sz="1250" spc="-1" strike="noStrike">
                <a:solidFill>
                  <a:srgbClr val="d7d4cc"/>
                </a:solidFill>
                <a:latin typeface="Raleway Medium"/>
                <a:ea typeface="Raleway Medium"/>
              </a:rPr>
              <a:t>Intelligence</a:t>
            </a:r>
            <a:endParaRPr b="0" lang="en-IN" sz="1250" spc="-1" strike="noStrike">
              <a:solidFill>
                <a:srgbClr val="000000"/>
              </a:solidFill>
              <a:latin typeface="Arial"/>
            </a:endParaRPr>
          </a:p>
        </p:txBody>
      </p:sp>
      <p:sp>
        <p:nvSpPr>
          <p:cNvPr id="92" name="Text 9"/>
          <p:cNvSpPr/>
          <p:nvPr/>
        </p:nvSpPr>
        <p:spPr>
          <a:xfrm>
            <a:off x="3357360" y="4895280"/>
            <a:ext cx="2399400" cy="941400"/>
          </a:xfrm>
          <a:prstGeom prst="rect">
            <a:avLst/>
          </a:prstGeom>
          <a:noFill/>
          <a:ln w="0">
            <a:noFill/>
          </a:ln>
        </p:spPr>
        <p:style>
          <a:lnRef idx="0"/>
          <a:fillRef idx="0"/>
          <a:effectRef idx="0"/>
          <a:fontRef idx="minor"/>
        </p:style>
        <p:txBody>
          <a:bodyPr lIns="0" rIns="0" tIns="0" bIns="0" anchor="t">
            <a:noAutofit/>
          </a:bodyPr>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Medicines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Drug_Categories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Batches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Secondary_Packaging</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Manufacturing_Orders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Quality_Certificates</a:t>
            </a:r>
            <a:endParaRPr b="0" lang="en-IN" sz="1000" spc="-1" strike="noStrike">
              <a:solidFill>
                <a:srgbClr val="000000"/>
              </a:solidFill>
              <a:latin typeface="Arial"/>
            </a:endParaRPr>
          </a:p>
        </p:txBody>
      </p:sp>
      <p:sp>
        <p:nvSpPr>
          <p:cNvPr id="93" name="Text 10"/>
          <p:cNvSpPr/>
          <p:nvPr/>
        </p:nvSpPr>
        <p:spPr>
          <a:xfrm>
            <a:off x="3359160" y="6103080"/>
            <a:ext cx="2399400" cy="375480"/>
          </a:xfrm>
          <a:prstGeom prst="rect">
            <a:avLst/>
          </a:prstGeom>
          <a:noFill/>
          <a:ln w="0">
            <a:noFill/>
          </a:ln>
        </p:spPr>
        <p:style>
          <a:lnRef idx="0"/>
          <a:fillRef idx="0"/>
          <a:effectRef idx="0"/>
          <a:fontRef idx="minor"/>
        </p:style>
        <p:txBody>
          <a:bodyPr lIns="0" rIns="0" tIns="0" bIns="0" anchor="t">
            <a:noAutofit/>
          </a:bodyPr>
          <a:p>
            <a:pPr>
              <a:lnSpc>
                <a:spcPts val="950"/>
              </a:lnSpc>
              <a:tabLst>
                <a:tab algn="l" pos="0"/>
              </a:tabLst>
            </a:pPr>
            <a:r>
              <a:rPr b="0" lang="en-US" sz="800" spc="-1" strike="noStrike">
                <a:solidFill>
                  <a:srgbClr val="d7d4cc"/>
                </a:solidFill>
                <a:latin typeface="Raleway Medium"/>
                <a:ea typeface="Raleway Medium"/>
              </a:rPr>
              <a:t>Catalogs product details, tracks batches through manufacturing, and manages quality certifications.</a:t>
            </a:r>
            <a:endParaRPr b="0" lang="en-IN" sz="800" spc="-1" strike="noStrike">
              <a:solidFill>
                <a:srgbClr val="000000"/>
              </a:solidFill>
              <a:latin typeface="Arial"/>
            </a:endParaRPr>
          </a:p>
        </p:txBody>
      </p:sp>
      <p:sp>
        <p:nvSpPr>
          <p:cNvPr id="94" name="Text 11"/>
          <p:cNvSpPr/>
          <p:nvPr/>
        </p:nvSpPr>
        <p:spPr>
          <a:xfrm>
            <a:off x="6080760" y="2396880"/>
            <a:ext cx="2399400" cy="19476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1" lang="en-US" sz="1250" spc="-1" strike="noStrike">
                <a:solidFill>
                  <a:srgbClr val="d7d4cc"/>
                </a:solidFill>
                <a:latin typeface="Raleway Medium"/>
                <a:ea typeface="Raleway Medium"/>
              </a:rPr>
              <a:t>Smart Warehousing</a:t>
            </a:r>
            <a:endParaRPr b="0" lang="en-IN" sz="1250" spc="-1" strike="noStrike">
              <a:solidFill>
                <a:srgbClr val="000000"/>
              </a:solidFill>
              <a:latin typeface="Arial"/>
            </a:endParaRPr>
          </a:p>
        </p:txBody>
      </p:sp>
      <p:sp>
        <p:nvSpPr>
          <p:cNvPr id="95" name="Text 12"/>
          <p:cNvSpPr/>
          <p:nvPr/>
        </p:nvSpPr>
        <p:spPr>
          <a:xfrm>
            <a:off x="6080760" y="2653920"/>
            <a:ext cx="2399400" cy="941400"/>
          </a:xfrm>
          <a:prstGeom prst="rect">
            <a:avLst/>
          </a:prstGeom>
          <a:noFill/>
          <a:ln w="0">
            <a:noFill/>
          </a:ln>
        </p:spPr>
        <p:style>
          <a:lnRef idx="0"/>
          <a:fillRef idx="0"/>
          <a:effectRef idx="0"/>
          <a:fontRef idx="minor"/>
        </p:style>
        <p:txBody>
          <a:bodyPr lIns="0" rIns="0" tIns="0" bIns="0" anchor="t">
            <a:noAutofit/>
          </a:bodyPr>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Warehouses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Storage_Zones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Stock_Ledger</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Inventory_Adjustments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Temperature_Logs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Quarantine_Hold</a:t>
            </a:r>
            <a:endParaRPr b="0" lang="en-IN" sz="1000" spc="-1" strike="noStrike">
              <a:solidFill>
                <a:srgbClr val="000000"/>
              </a:solidFill>
              <a:latin typeface="Arial"/>
            </a:endParaRPr>
          </a:p>
        </p:txBody>
      </p:sp>
      <p:sp>
        <p:nvSpPr>
          <p:cNvPr id="96" name="Text 13"/>
          <p:cNvSpPr/>
          <p:nvPr/>
        </p:nvSpPr>
        <p:spPr>
          <a:xfrm>
            <a:off x="6080760" y="3763080"/>
            <a:ext cx="2399400" cy="375480"/>
          </a:xfrm>
          <a:prstGeom prst="rect">
            <a:avLst/>
          </a:prstGeom>
          <a:noFill/>
          <a:ln w="0">
            <a:noFill/>
          </a:ln>
        </p:spPr>
        <p:style>
          <a:lnRef idx="0"/>
          <a:fillRef idx="0"/>
          <a:effectRef idx="0"/>
          <a:fontRef idx="minor"/>
        </p:style>
        <p:txBody>
          <a:bodyPr lIns="0" rIns="0" tIns="0" bIns="0" anchor="t">
            <a:noAutofit/>
          </a:bodyPr>
          <a:p>
            <a:pPr>
              <a:lnSpc>
                <a:spcPts val="950"/>
              </a:lnSpc>
              <a:tabLst>
                <a:tab algn="l" pos="0"/>
              </a:tabLst>
            </a:pPr>
            <a:r>
              <a:rPr b="0" lang="en-US" sz="800" spc="-1" strike="noStrike">
                <a:solidFill>
                  <a:srgbClr val="d7d4cc"/>
                </a:solidFill>
                <a:latin typeface="Raleway Medium"/>
                <a:ea typeface="Raleway Medium"/>
              </a:rPr>
              <a:t>Manages physical </a:t>
            </a:r>
            <a:r>
              <a:rPr b="0" lang="en-US" sz="800" spc="-1" strike="noStrike">
                <a:solidFill>
                  <a:srgbClr val="d7d4cc"/>
                </a:solidFill>
                <a:latin typeface="Raleway Medium"/>
                <a:ea typeface="Raleway Medium"/>
              </a:rPr>
              <a:t>inventory locations, </a:t>
            </a:r>
            <a:r>
              <a:rPr b="0" lang="en-US" sz="800" spc="-1" strike="noStrike">
                <a:solidFill>
                  <a:srgbClr val="d7d4cc"/>
                </a:solidFill>
                <a:latin typeface="Raleway Medium"/>
                <a:ea typeface="Raleway Medium"/>
              </a:rPr>
              <a:t>stock levels, </a:t>
            </a:r>
            <a:r>
              <a:rPr b="0" lang="en-US" sz="800" spc="-1" strike="noStrike">
                <a:solidFill>
                  <a:srgbClr val="d7d4cc"/>
                </a:solidFill>
                <a:latin typeface="Raleway Medium"/>
                <a:ea typeface="Raleway Medium"/>
              </a:rPr>
              <a:t>adjustments, and </a:t>
            </a:r>
            <a:r>
              <a:rPr b="0" lang="en-US" sz="800" spc="-1" strike="noStrike">
                <a:solidFill>
                  <a:srgbClr val="d7d4cc"/>
                </a:solidFill>
                <a:latin typeface="Raleway Medium"/>
                <a:ea typeface="Raleway Medium"/>
              </a:rPr>
              <a:t>environmental </a:t>
            </a:r>
            <a:r>
              <a:rPr b="0" lang="en-US" sz="800" spc="-1" strike="noStrike">
                <a:solidFill>
                  <a:srgbClr val="d7d4cc"/>
                </a:solidFill>
                <a:latin typeface="Raleway Medium"/>
                <a:ea typeface="Raleway Medium"/>
              </a:rPr>
              <a:t>conditions, including </a:t>
            </a:r>
            <a:r>
              <a:rPr b="0" lang="en-US" sz="800" spc="-1" strike="noStrike">
                <a:solidFill>
                  <a:srgbClr val="d7d4cc"/>
                </a:solidFill>
                <a:latin typeface="Raleway Medium"/>
                <a:ea typeface="Raleway Medium"/>
              </a:rPr>
              <a:t>quarantine.</a:t>
            </a:r>
            <a:endParaRPr b="0" lang="en-IN" sz="800" spc="-1" strike="noStrike">
              <a:solidFill>
                <a:srgbClr val="000000"/>
              </a:solidFill>
              <a:latin typeface="Arial"/>
            </a:endParaRPr>
          </a:p>
        </p:txBody>
      </p:sp>
      <p:sp>
        <p:nvSpPr>
          <p:cNvPr id="97" name="Text 14"/>
          <p:cNvSpPr/>
          <p:nvPr/>
        </p:nvSpPr>
        <p:spPr>
          <a:xfrm>
            <a:off x="6080760" y="3677760"/>
            <a:ext cx="2399400" cy="312480"/>
          </a:xfrm>
          <a:prstGeom prst="rect">
            <a:avLst/>
          </a:prstGeom>
          <a:noFill/>
          <a:ln w="0">
            <a:noFill/>
          </a:ln>
        </p:spPr>
        <p:style>
          <a:lnRef idx="0"/>
          <a:fillRef idx="0"/>
          <a:effectRef idx="0"/>
          <a:fontRef idx="minor"/>
        </p:style>
        <p:txBody>
          <a:bodyPr lIns="0" rIns="0" tIns="0" bIns="0" anchor="t">
            <a:noAutofit/>
          </a:bodyPr>
          <a:p>
            <a:endParaRPr b="0" lang="en-US" sz="1000" spc="-1" strike="noStrike">
              <a:solidFill>
                <a:srgbClr val="000000"/>
              </a:solidFill>
              <a:latin typeface="Arial"/>
            </a:endParaRPr>
          </a:p>
        </p:txBody>
      </p:sp>
      <p:sp>
        <p:nvSpPr>
          <p:cNvPr id="98" name="Text 15"/>
          <p:cNvSpPr/>
          <p:nvPr/>
        </p:nvSpPr>
        <p:spPr>
          <a:xfrm>
            <a:off x="6080760" y="4638240"/>
            <a:ext cx="2399400" cy="19476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1" lang="en-US" sz="1250" spc="-1" strike="noStrike">
                <a:solidFill>
                  <a:srgbClr val="d7d4cc"/>
                </a:solidFill>
                <a:latin typeface="Raleway Medium"/>
                <a:ea typeface="Raleway Medium"/>
              </a:rPr>
              <a:t>Forward Fulfillment</a:t>
            </a:r>
            <a:endParaRPr b="0" lang="en-IN" sz="1250" spc="-1" strike="noStrike">
              <a:solidFill>
                <a:srgbClr val="000000"/>
              </a:solidFill>
              <a:latin typeface="Arial"/>
            </a:endParaRPr>
          </a:p>
        </p:txBody>
      </p:sp>
      <p:sp>
        <p:nvSpPr>
          <p:cNvPr id="99" name="Text 16"/>
          <p:cNvSpPr/>
          <p:nvPr/>
        </p:nvSpPr>
        <p:spPr>
          <a:xfrm>
            <a:off x="6080760" y="4895280"/>
            <a:ext cx="2399400" cy="941400"/>
          </a:xfrm>
          <a:prstGeom prst="rect">
            <a:avLst/>
          </a:prstGeom>
          <a:noFill/>
          <a:ln w="0">
            <a:noFill/>
          </a:ln>
        </p:spPr>
        <p:style>
          <a:lnRef idx="0"/>
          <a:fillRef idx="0"/>
          <a:effectRef idx="0"/>
          <a:fontRef idx="minor"/>
        </p:style>
        <p:txBody>
          <a:bodyPr lIns="0" rIns="0" tIns="0" bIns="0" anchor="t">
            <a:noAutofit/>
          </a:bodyPr>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Sales_Orders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Order_Line_Items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Shipments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Shipment_Tracking</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Carrier_Fleet</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Proof_of_Delivery</a:t>
            </a:r>
            <a:endParaRPr b="0" lang="en-IN" sz="1000" spc="-1" strike="noStrike">
              <a:solidFill>
                <a:srgbClr val="000000"/>
              </a:solidFill>
              <a:latin typeface="Arial"/>
            </a:endParaRPr>
          </a:p>
        </p:txBody>
      </p:sp>
      <p:sp>
        <p:nvSpPr>
          <p:cNvPr id="100" name="Text 17"/>
          <p:cNvSpPr/>
          <p:nvPr/>
        </p:nvSpPr>
        <p:spPr>
          <a:xfrm>
            <a:off x="6059160" y="6103080"/>
            <a:ext cx="2399400" cy="375480"/>
          </a:xfrm>
          <a:prstGeom prst="rect">
            <a:avLst/>
          </a:prstGeom>
          <a:noFill/>
          <a:ln w="0">
            <a:noFill/>
          </a:ln>
        </p:spPr>
        <p:style>
          <a:lnRef idx="0"/>
          <a:fillRef idx="0"/>
          <a:effectRef idx="0"/>
          <a:fontRef idx="minor"/>
        </p:style>
        <p:txBody>
          <a:bodyPr lIns="0" rIns="0" tIns="0" bIns="0" anchor="t">
            <a:noAutofit/>
          </a:bodyPr>
          <a:p>
            <a:pPr>
              <a:lnSpc>
                <a:spcPts val="950"/>
              </a:lnSpc>
              <a:tabLst>
                <a:tab algn="l" pos="0"/>
              </a:tabLst>
            </a:pPr>
            <a:r>
              <a:rPr b="0" lang="en-US" sz="800" spc="-1" strike="noStrike">
                <a:solidFill>
                  <a:srgbClr val="d7d4cc"/>
                </a:solidFill>
                <a:latin typeface="Raleway Medium"/>
                <a:ea typeface="Raleway Medium"/>
              </a:rPr>
              <a:t>Handles sales order processing, shipment </a:t>
            </a:r>
            <a:r>
              <a:rPr b="0" lang="en-US" sz="800" spc="-1" strike="noStrike">
                <a:solidFill>
                  <a:srgbClr val="d7d4cc"/>
                </a:solidFill>
                <a:latin typeface="Raleway Medium"/>
                <a:ea typeface="Raleway Medium"/>
              </a:rPr>
              <a:t>logistics, tracking, and final proof of delivery to </a:t>
            </a:r>
            <a:r>
              <a:rPr b="0" lang="en-US" sz="800" spc="-1" strike="noStrike">
                <a:solidFill>
                  <a:srgbClr val="d7d4cc"/>
                </a:solidFill>
                <a:latin typeface="Raleway Medium"/>
                <a:ea typeface="Raleway Medium"/>
              </a:rPr>
              <a:t>retailers.</a:t>
            </a:r>
            <a:endParaRPr b="0" lang="en-IN" sz="800" spc="-1" strike="noStrike">
              <a:solidFill>
                <a:srgbClr val="000000"/>
              </a:solidFill>
              <a:latin typeface="Arial"/>
            </a:endParaRPr>
          </a:p>
        </p:txBody>
      </p:sp>
      <p:sp>
        <p:nvSpPr>
          <p:cNvPr id="101" name="Text 18"/>
          <p:cNvSpPr/>
          <p:nvPr/>
        </p:nvSpPr>
        <p:spPr>
          <a:xfrm>
            <a:off x="8804520" y="2396880"/>
            <a:ext cx="2481840" cy="19476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1" lang="en-US" sz="1250" spc="-1" strike="noStrike">
                <a:solidFill>
                  <a:srgbClr val="d7d4cc"/>
                </a:solidFill>
                <a:latin typeface="Raleway Medium"/>
                <a:ea typeface="Raleway Medium"/>
              </a:rPr>
              <a:t>Reverse Logistics &amp; Compliance</a:t>
            </a:r>
            <a:endParaRPr b="0" lang="en-IN" sz="1250" spc="-1" strike="noStrike">
              <a:solidFill>
                <a:srgbClr val="000000"/>
              </a:solidFill>
              <a:latin typeface="Arial"/>
            </a:endParaRPr>
          </a:p>
        </p:txBody>
      </p:sp>
      <p:sp>
        <p:nvSpPr>
          <p:cNvPr id="102" name="Text 19"/>
          <p:cNvSpPr/>
          <p:nvPr/>
        </p:nvSpPr>
        <p:spPr>
          <a:xfrm>
            <a:off x="8804520" y="2653920"/>
            <a:ext cx="2481840" cy="941400"/>
          </a:xfrm>
          <a:prstGeom prst="rect">
            <a:avLst/>
          </a:prstGeom>
          <a:noFill/>
          <a:ln w="0">
            <a:noFill/>
          </a:ln>
        </p:spPr>
        <p:style>
          <a:lnRef idx="0"/>
          <a:fillRef idx="0"/>
          <a:effectRef idx="0"/>
          <a:fontRef idx="minor"/>
        </p:style>
        <p:txBody>
          <a:bodyPr lIns="0" rIns="0" tIns="0" bIns="0" anchor="t">
            <a:noAutofit/>
          </a:bodyPr>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Return_Authorizations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Return_Shipping</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Inspection_Reports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Disposal_Certificates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Credit_Notes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Recalled_Batches</a:t>
            </a:r>
            <a:endParaRPr b="0" lang="en-IN" sz="1000" spc="-1" strike="noStrike">
              <a:solidFill>
                <a:srgbClr val="000000"/>
              </a:solidFill>
              <a:latin typeface="Arial"/>
            </a:endParaRPr>
          </a:p>
        </p:txBody>
      </p:sp>
      <p:sp>
        <p:nvSpPr>
          <p:cNvPr id="103" name="Text 20"/>
          <p:cNvSpPr/>
          <p:nvPr/>
        </p:nvSpPr>
        <p:spPr>
          <a:xfrm>
            <a:off x="8804520" y="3763080"/>
            <a:ext cx="2481840" cy="375480"/>
          </a:xfrm>
          <a:prstGeom prst="rect">
            <a:avLst/>
          </a:prstGeom>
          <a:noFill/>
          <a:ln w="0">
            <a:noFill/>
          </a:ln>
        </p:spPr>
        <p:style>
          <a:lnRef idx="0"/>
          <a:fillRef idx="0"/>
          <a:effectRef idx="0"/>
          <a:fontRef idx="minor"/>
        </p:style>
        <p:txBody>
          <a:bodyPr lIns="0" rIns="0" tIns="0" bIns="0" anchor="t">
            <a:noAutofit/>
          </a:bodyPr>
          <a:p>
            <a:pPr>
              <a:lnSpc>
                <a:spcPts val="950"/>
              </a:lnSpc>
              <a:tabLst>
                <a:tab algn="l" pos="0"/>
              </a:tabLst>
            </a:pPr>
            <a:r>
              <a:rPr b="0" lang="en-US" sz="800" spc="-1" strike="noStrike">
                <a:solidFill>
                  <a:srgbClr val="d7d4cc"/>
                </a:solidFill>
                <a:latin typeface="Raleway Medium"/>
                <a:ea typeface="Raleway Medium"/>
              </a:rPr>
              <a:t>Facilitates product returns, inspections, secure disposal, and management of recalled batches, ensuring compliance.</a:t>
            </a:r>
            <a:endParaRPr b="0" lang="en-IN" sz="800" spc="-1" strike="noStrike">
              <a:solidFill>
                <a:srgbClr val="000000"/>
              </a:solidFill>
              <a:latin typeface="Arial"/>
            </a:endParaRPr>
          </a:p>
        </p:txBody>
      </p:sp>
      <p:sp>
        <p:nvSpPr>
          <p:cNvPr id="104" name="Text 21"/>
          <p:cNvSpPr/>
          <p:nvPr/>
        </p:nvSpPr>
        <p:spPr>
          <a:xfrm>
            <a:off x="8804520" y="3677760"/>
            <a:ext cx="2481840" cy="312480"/>
          </a:xfrm>
          <a:prstGeom prst="rect">
            <a:avLst/>
          </a:prstGeom>
          <a:noFill/>
          <a:ln w="0">
            <a:noFill/>
          </a:ln>
        </p:spPr>
        <p:style>
          <a:lnRef idx="0"/>
          <a:fillRef idx="0"/>
          <a:effectRef idx="0"/>
          <a:fontRef idx="minor"/>
        </p:style>
        <p:txBody>
          <a:bodyPr lIns="0" rIns="0" tIns="0" bIns="0" anchor="t">
            <a:noAutofit/>
          </a:bodyPr>
          <a:p>
            <a:endParaRPr b="0" lang="en-US" sz="1000" spc="-1" strike="noStrike">
              <a:solidFill>
                <a:srgbClr val="000000"/>
              </a:solidFill>
              <a:latin typeface="Arial"/>
            </a:endParaRPr>
          </a:p>
        </p:txBody>
      </p:sp>
      <p:sp>
        <p:nvSpPr>
          <p:cNvPr id="105" name="Text 22"/>
          <p:cNvSpPr/>
          <p:nvPr/>
        </p:nvSpPr>
        <p:spPr>
          <a:xfrm>
            <a:off x="8804520" y="4638240"/>
            <a:ext cx="2481840" cy="19476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1" lang="en-US" sz="1250" spc="-1" strike="noStrike">
                <a:solidFill>
                  <a:srgbClr val="d7d4cc"/>
                </a:solidFill>
                <a:latin typeface="Raleway Medium"/>
                <a:ea typeface="Raleway Medium"/>
              </a:rPr>
              <a:t>Financial &amp; Analytics</a:t>
            </a:r>
            <a:endParaRPr b="0" lang="en-IN" sz="1250" spc="-1" strike="noStrike">
              <a:solidFill>
                <a:srgbClr val="000000"/>
              </a:solidFill>
              <a:latin typeface="Arial"/>
            </a:endParaRPr>
          </a:p>
        </p:txBody>
      </p:sp>
      <p:sp>
        <p:nvSpPr>
          <p:cNvPr id="106" name="Text 23"/>
          <p:cNvSpPr/>
          <p:nvPr/>
        </p:nvSpPr>
        <p:spPr>
          <a:xfrm>
            <a:off x="8804520" y="4895280"/>
            <a:ext cx="2481840" cy="941400"/>
          </a:xfrm>
          <a:prstGeom prst="rect">
            <a:avLst/>
          </a:prstGeom>
          <a:noFill/>
          <a:ln w="0">
            <a:noFill/>
          </a:ln>
        </p:spPr>
        <p:style>
          <a:lnRef idx="0"/>
          <a:fillRef idx="0"/>
          <a:effectRef idx="0"/>
          <a:fontRef idx="minor"/>
        </p:style>
        <p:txBody>
          <a:bodyPr lIns="0" rIns="0" tIns="0" bIns="0" anchor="t">
            <a:noAutofit/>
          </a:bodyPr>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Invoice_Records</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Payment_Ledger</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Cost_Allocation</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Revenue_Recognition</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Batch_Profitability</a:t>
            </a:r>
            <a:endParaRPr b="0" lang="en-IN" sz="1000" spc="-1" strike="noStrike">
              <a:solidFill>
                <a:srgbClr val="000000"/>
              </a:solidFill>
              <a:latin typeface="Arial"/>
            </a:endParaRPr>
          </a:p>
          <a:p>
            <a:pPr marL="343080" indent="-343080">
              <a:lnSpc>
                <a:spcPts val="1199"/>
              </a:lnSpc>
              <a:buClr>
                <a:srgbClr val="d7d4cc"/>
              </a:buClr>
              <a:buFont typeface="Symbol" charset="2"/>
              <a:buChar char=""/>
            </a:pPr>
            <a:r>
              <a:rPr b="0" lang="en-US" sz="1000" spc="-1" strike="noStrike">
                <a:solidFill>
                  <a:srgbClr val="d7d4cc"/>
                </a:solidFill>
                <a:highlight>
                  <a:srgbClr val="343438"/>
                </a:highlight>
                <a:latin typeface="Consolas"/>
                <a:ea typeface="Consolas"/>
              </a:rPr>
              <a:t>Compliance_Metrics</a:t>
            </a:r>
            <a:endParaRPr b="0" lang="en-IN" sz="1000" spc="-1" strike="noStrike">
              <a:solidFill>
                <a:srgbClr val="000000"/>
              </a:solidFill>
              <a:latin typeface="Arial"/>
            </a:endParaRPr>
          </a:p>
        </p:txBody>
      </p:sp>
      <p:sp>
        <p:nvSpPr>
          <p:cNvPr id="107" name="Text 24"/>
          <p:cNvSpPr/>
          <p:nvPr/>
        </p:nvSpPr>
        <p:spPr>
          <a:xfrm>
            <a:off x="8820000" y="6103080"/>
            <a:ext cx="2481840" cy="375480"/>
          </a:xfrm>
          <a:prstGeom prst="rect">
            <a:avLst/>
          </a:prstGeom>
          <a:noFill/>
          <a:ln w="0">
            <a:noFill/>
          </a:ln>
        </p:spPr>
        <p:style>
          <a:lnRef idx="0"/>
          <a:fillRef idx="0"/>
          <a:effectRef idx="0"/>
          <a:fontRef idx="minor"/>
        </p:style>
        <p:txBody>
          <a:bodyPr lIns="0" rIns="0" tIns="0" bIns="0" anchor="t">
            <a:noAutofit/>
          </a:bodyPr>
          <a:p>
            <a:pPr>
              <a:lnSpc>
                <a:spcPts val="950"/>
              </a:lnSpc>
              <a:tabLst>
                <a:tab algn="l" pos="0"/>
              </a:tabLst>
            </a:pPr>
            <a:r>
              <a:rPr b="0" lang="en-US" sz="800" spc="-1" strike="noStrike">
                <a:solidFill>
                  <a:srgbClr val="d7d4cc"/>
                </a:solidFill>
                <a:latin typeface="Raleway Medium"/>
                <a:ea typeface="Raleway Medium"/>
              </a:rPr>
              <a:t>Processes financial transactions, tracks costs and revenues, and generates key compliance and profitability metrics.</a:t>
            </a:r>
            <a:endParaRPr b="0" lang="en-IN" sz="800" spc="-1" strike="noStrike">
              <a:solidFill>
                <a:srgbClr val="000000"/>
              </a:solidFill>
              <a:latin typeface="Arial"/>
            </a:endParaRPr>
          </a:p>
        </p:txBody>
      </p:sp>
      <p:sp>
        <p:nvSpPr>
          <p:cNvPr id="108"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
          <p:cNvSpPr txBox="1"/>
          <p:nvPr/>
        </p:nvSpPr>
        <p:spPr>
          <a:xfrm>
            <a:off x="3960000" y="360000"/>
            <a:ext cx="6120000" cy="540000"/>
          </a:xfrm>
          <a:prstGeom prst="rect">
            <a:avLst/>
          </a:prstGeom>
          <a:noFill/>
          <a:ln w="0">
            <a:noFill/>
          </a:ln>
        </p:spPr>
        <p:txBody>
          <a:bodyPr lIns="90000" rIns="90000" tIns="45000" bIns="45000" anchor="t">
            <a:noAutofit/>
          </a:bodyPr>
          <a:p>
            <a:pPr algn="ctr"/>
            <a:r>
              <a:rPr b="0" lang="en-IN" sz="1800" spc="-1" strike="noStrike">
                <a:solidFill>
                  <a:srgbClr val="ffffff"/>
                </a:solidFill>
                <a:latin typeface="Arial"/>
              </a:rPr>
              <a:t>ER Diagram Basic</a:t>
            </a:r>
            <a:endParaRPr b="0" lang="en-IN" sz="1800" spc="-1" strike="noStrike">
              <a:solidFill>
                <a:srgbClr val="ffffff"/>
              </a:solidFill>
              <a:latin typeface="Arial"/>
            </a:endParaRPr>
          </a:p>
        </p:txBody>
      </p:sp>
      <p:pic>
        <p:nvPicPr>
          <p:cNvPr id="110" name="" descr=""/>
          <p:cNvPicPr/>
          <p:nvPr/>
        </p:nvPicPr>
        <p:blipFill>
          <a:blip r:embed="rId1"/>
          <a:stretch/>
        </p:blipFill>
        <p:spPr>
          <a:xfrm>
            <a:off x="0" y="900000"/>
            <a:ext cx="14630040" cy="73296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Shape 0"/>
          <p:cNvSpPr/>
          <p:nvPr/>
        </p:nvSpPr>
        <p:spPr>
          <a:xfrm>
            <a:off x="900000" y="436680"/>
            <a:ext cx="2048400" cy="462240"/>
          </a:xfrm>
          <a:prstGeom prst="roundRect">
            <a:avLst>
              <a:gd name="adj" fmla="val 63836"/>
            </a:avLst>
          </a:prstGeom>
          <a:solidFill>
            <a:srgbClr val="4d4000"/>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12" name="Text 1"/>
          <p:cNvSpPr/>
          <p:nvPr/>
        </p:nvSpPr>
        <p:spPr>
          <a:xfrm>
            <a:off x="1048320" y="510840"/>
            <a:ext cx="1752120" cy="31428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0" lang="en-US" sz="1550" spc="-1" strike="noStrike">
                <a:solidFill>
                  <a:srgbClr val="d7d4cc"/>
                </a:solidFill>
                <a:latin typeface="Raleway Medium"/>
                <a:ea typeface="Raleway Medium"/>
              </a:rPr>
              <a:t>INFRASTRUCTURE</a:t>
            </a:r>
            <a:endParaRPr b="0" lang="en-IN" sz="1550" spc="-1" strike="noStrike">
              <a:solidFill>
                <a:srgbClr val="000000"/>
              </a:solidFill>
              <a:latin typeface="Arial"/>
            </a:endParaRPr>
          </a:p>
        </p:txBody>
      </p:sp>
      <p:sp>
        <p:nvSpPr>
          <p:cNvPr id="113" name="Text 2"/>
          <p:cNvSpPr/>
          <p:nvPr/>
        </p:nvSpPr>
        <p:spPr>
          <a:xfrm>
            <a:off x="864000" y="1114920"/>
            <a:ext cx="10151280" cy="684000"/>
          </a:xfrm>
          <a:prstGeom prst="rect">
            <a:avLst/>
          </a:prstGeom>
          <a:noFill/>
          <a:ln w="0">
            <a:noFill/>
          </a:ln>
        </p:spPr>
        <p:style>
          <a:lnRef idx="0"/>
          <a:fillRef idx="0"/>
          <a:effectRef idx="0"/>
          <a:fontRef idx="minor"/>
        </p:style>
        <p:txBody>
          <a:bodyPr wrap="none" lIns="0" rIns="0" tIns="0" bIns="0" anchor="t">
            <a:noAutofit/>
          </a:bodyPr>
          <a:p>
            <a:pPr>
              <a:lnSpc>
                <a:spcPts val="5400"/>
              </a:lnSpc>
              <a:tabLst>
                <a:tab algn="l" pos="0"/>
              </a:tabLst>
            </a:pPr>
            <a:r>
              <a:rPr b="1" lang="en-US" sz="4300" spc="-1" strike="noStrike">
                <a:solidFill>
                  <a:srgbClr val="ffe14d"/>
                </a:solidFill>
                <a:latin typeface="Comfortaa Bold"/>
                <a:ea typeface="Comfortaa Bold"/>
              </a:rPr>
              <a:t>Our Collaborative Stack</a:t>
            </a:r>
            <a:endParaRPr b="0" lang="en-IN" sz="4300" spc="-1" strike="noStrike">
              <a:solidFill>
                <a:srgbClr val="000000"/>
              </a:solidFill>
              <a:latin typeface="Arial"/>
            </a:endParaRPr>
          </a:p>
        </p:txBody>
      </p:sp>
      <p:pic>
        <p:nvPicPr>
          <p:cNvPr id="114" name="Image 0" descr="preencoded.png"/>
          <p:cNvPicPr/>
          <p:nvPr/>
        </p:nvPicPr>
        <p:blipFill>
          <a:blip r:embed="rId1"/>
          <a:stretch/>
        </p:blipFill>
        <p:spPr>
          <a:xfrm>
            <a:off x="864000" y="2729520"/>
            <a:ext cx="1185840" cy="1185840"/>
          </a:xfrm>
          <a:prstGeom prst="rect">
            <a:avLst/>
          </a:prstGeom>
          <a:ln w="0">
            <a:noFill/>
          </a:ln>
        </p:spPr>
      </p:pic>
      <p:sp>
        <p:nvSpPr>
          <p:cNvPr id="115" name="Text 3"/>
          <p:cNvSpPr/>
          <p:nvPr/>
        </p:nvSpPr>
        <p:spPr>
          <a:xfrm>
            <a:off x="2360160" y="2729520"/>
            <a:ext cx="2597040" cy="684000"/>
          </a:xfrm>
          <a:prstGeom prst="rect">
            <a:avLst/>
          </a:prstGeom>
          <a:noFill/>
          <a:ln w="0">
            <a:noFill/>
          </a:ln>
        </p:spPr>
        <p:style>
          <a:lnRef idx="0"/>
          <a:fillRef idx="0"/>
          <a:effectRef idx="0"/>
          <a:fontRef idx="minor"/>
        </p:style>
        <p:txBody>
          <a:bodyPr lIns="0" rIns="0" tIns="0" bIns="0" anchor="t">
            <a:noAutofit/>
          </a:bodyPr>
          <a:p>
            <a:pPr>
              <a:lnSpc>
                <a:spcPts val="2701"/>
              </a:lnSpc>
              <a:tabLst>
                <a:tab algn="l" pos="0"/>
              </a:tabLst>
            </a:pPr>
            <a:r>
              <a:rPr b="1" lang="en-US" sz="2150" spc="-1" strike="noStrike">
                <a:solidFill>
                  <a:srgbClr val="d7d4cc"/>
                </a:solidFill>
                <a:latin typeface="Comfortaa Bold"/>
                <a:ea typeface="Comfortaa Bold"/>
              </a:rPr>
              <a:t>GitHub Version Control</a:t>
            </a:r>
            <a:endParaRPr b="0" lang="en-IN" sz="2150" spc="-1" strike="noStrike">
              <a:solidFill>
                <a:srgbClr val="000000"/>
              </a:solidFill>
              <a:latin typeface="Arial"/>
            </a:endParaRPr>
          </a:p>
        </p:txBody>
      </p:sp>
      <p:sp>
        <p:nvSpPr>
          <p:cNvPr id="116" name="Text 4"/>
          <p:cNvSpPr/>
          <p:nvPr/>
        </p:nvSpPr>
        <p:spPr>
          <a:xfrm>
            <a:off x="2360160" y="3563280"/>
            <a:ext cx="2597040" cy="315864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pc="-1" strike="noStrike">
                <a:solidFill>
                  <a:srgbClr val="d7d4cc"/>
                </a:solidFill>
                <a:latin typeface="Raleway Medium"/>
                <a:ea typeface="Raleway Medium"/>
              </a:rPr>
              <a:t>SQL schema development managed through pull requests, enabling collaborative logic verification and code review across the entire team.</a:t>
            </a:r>
            <a:endParaRPr b="0" lang="en-IN" sz="1900" spc="-1" strike="noStrike">
              <a:solidFill>
                <a:srgbClr val="000000"/>
              </a:solidFill>
              <a:latin typeface="Arial"/>
            </a:endParaRPr>
          </a:p>
        </p:txBody>
      </p:sp>
      <p:pic>
        <p:nvPicPr>
          <p:cNvPr id="117" name="Image 1" descr="preencoded.png"/>
          <p:cNvPicPr/>
          <p:nvPr/>
        </p:nvPicPr>
        <p:blipFill>
          <a:blip r:embed="rId2"/>
          <a:stretch/>
        </p:blipFill>
        <p:spPr>
          <a:xfrm>
            <a:off x="6660000" y="2700000"/>
            <a:ext cx="1185840" cy="1185840"/>
          </a:xfrm>
          <a:prstGeom prst="rect">
            <a:avLst/>
          </a:prstGeom>
          <a:ln w="0">
            <a:noFill/>
          </a:ln>
        </p:spPr>
      </p:pic>
      <p:sp>
        <p:nvSpPr>
          <p:cNvPr id="118" name="Text 5"/>
          <p:cNvSpPr/>
          <p:nvPr/>
        </p:nvSpPr>
        <p:spPr>
          <a:xfrm>
            <a:off x="8156160" y="2700000"/>
            <a:ext cx="2597040" cy="684000"/>
          </a:xfrm>
          <a:prstGeom prst="rect">
            <a:avLst/>
          </a:prstGeom>
          <a:noFill/>
          <a:ln w="0">
            <a:noFill/>
          </a:ln>
        </p:spPr>
        <p:style>
          <a:lnRef idx="0"/>
          <a:fillRef idx="0"/>
          <a:effectRef idx="0"/>
          <a:fontRef idx="minor"/>
        </p:style>
        <p:txBody>
          <a:bodyPr lIns="0" rIns="0" tIns="0" bIns="0" anchor="t">
            <a:noAutofit/>
          </a:bodyPr>
          <a:p>
            <a:pPr>
              <a:lnSpc>
                <a:spcPts val="2701"/>
              </a:lnSpc>
              <a:tabLst>
                <a:tab algn="l" pos="0"/>
              </a:tabLst>
            </a:pPr>
            <a:r>
              <a:rPr b="1" lang="en-US" sz="2150" spc="-1" strike="noStrike">
                <a:solidFill>
                  <a:srgbClr val="d7d4cc"/>
                </a:solidFill>
                <a:latin typeface="Comfortaa Bold"/>
                <a:ea typeface="Comfortaa Bold"/>
              </a:rPr>
              <a:t>Supabase PostgreSQL</a:t>
            </a:r>
            <a:endParaRPr b="0" lang="en-IN" sz="2150" spc="-1" strike="noStrike">
              <a:solidFill>
                <a:srgbClr val="000000"/>
              </a:solidFill>
              <a:latin typeface="Arial"/>
            </a:endParaRPr>
          </a:p>
        </p:txBody>
      </p:sp>
      <p:sp>
        <p:nvSpPr>
          <p:cNvPr id="119" name="Text 6"/>
          <p:cNvSpPr/>
          <p:nvPr/>
        </p:nvSpPr>
        <p:spPr>
          <a:xfrm>
            <a:off x="8156160" y="3533760"/>
            <a:ext cx="2597040" cy="355356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pc="-1" strike="noStrike">
                <a:solidFill>
                  <a:srgbClr val="d7d4cc"/>
                </a:solidFill>
                <a:latin typeface="Raleway Medium"/>
                <a:ea typeface="Raleway Medium"/>
              </a:rPr>
              <a:t>Shared, real-time cloud database instance allowing all six team members to build and query simultaneously across  environments.</a:t>
            </a:r>
            <a:endParaRPr b="0" lang="en-IN" sz="1900" spc="-1" strike="noStrike">
              <a:solidFill>
                <a:srgbClr val="000000"/>
              </a:solidFill>
              <a:latin typeface="Arial"/>
            </a:endParaRPr>
          </a:p>
        </p:txBody>
      </p:sp>
      <p:sp>
        <p:nvSpPr>
          <p:cNvPr id="120"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pPr>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 0"/>
          <p:cNvSpPr/>
          <p:nvPr/>
        </p:nvSpPr>
        <p:spPr>
          <a:xfrm>
            <a:off x="851400" y="1050480"/>
            <a:ext cx="10508400" cy="673920"/>
          </a:xfrm>
          <a:prstGeom prst="rect">
            <a:avLst/>
          </a:prstGeom>
          <a:noFill/>
          <a:ln w="0">
            <a:noFill/>
          </a:ln>
        </p:spPr>
        <p:style>
          <a:lnRef idx="0"/>
          <a:fillRef idx="0"/>
          <a:effectRef idx="0"/>
          <a:fontRef idx="minor"/>
        </p:style>
        <p:txBody>
          <a:bodyPr wrap="none" lIns="0" rIns="0" tIns="0" bIns="0" anchor="t">
            <a:noAutofit/>
          </a:bodyPr>
          <a:p>
            <a:pPr>
              <a:lnSpc>
                <a:spcPts val="5301"/>
              </a:lnSpc>
              <a:tabLst>
                <a:tab algn="l" pos="0"/>
              </a:tabLst>
            </a:pPr>
            <a:r>
              <a:rPr b="1" lang="en-US" sz="4250" spc="-1" strike="noStrike">
                <a:solidFill>
                  <a:srgbClr val="ffe14d"/>
                </a:solidFill>
                <a:latin typeface="Comfortaa Bold"/>
                <a:ea typeface="Comfortaa Bold"/>
              </a:rPr>
              <a:t>Project Phasing &amp; Progress Trajectory</a:t>
            </a:r>
            <a:endParaRPr b="0" lang="en-IN" sz="4250" spc="-1" strike="noStrike">
              <a:solidFill>
                <a:srgbClr val="000000"/>
              </a:solidFill>
              <a:latin typeface="Arial"/>
            </a:endParaRPr>
          </a:p>
        </p:txBody>
      </p:sp>
      <p:pic>
        <p:nvPicPr>
          <p:cNvPr id="122" name="Image 0" descr="preencoded.png"/>
          <p:cNvPicPr/>
          <p:nvPr/>
        </p:nvPicPr>
        <p:blipFill>
          <a:blip r:embed="rId1"/>
          <a:stretch/>
        </p:blipFill>
        <p:spPr>
          <a:xfrm>
            <a:off x="851400" y="2205720"/>
            <a:ext cx="4307400" cy="971280"/>
          </a:xfrm>
          <a:prstGeom prst="rect">
            <a:avLst/>
          </a:prstGeom>
          <a:ln w="0">
            <a:noFill/>
          </a:ln>
        </p:spPr>
      </p:pic>
      <p:sp>
        <p:nvSpPr>
          <p:cNvPr id="123" name="Shape 1"/>
          <p:cNvSpPr/>
          <p:nvPr/>
        </p:nvSpPr>
        <p:spPr>
          <a:xfrm>
            <a:off x="1094760" y="3418560"/>
            <a:ext cx="1757160" cy="452880"/>
          </a:xfrm>
          <a:prstGeom prst="roundRect">
            <a:avLst>
              <a:gd name="adj" fmla="val 64188"/>
            </a:avLst>
          </a:prstGeom>
          <a:solidFill>
            <a:srgbClr val="4d4000"/>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24" name="Text 2"/>
          <p:cNvSpPr/>
          <p:nvPr/>
        </p:nvSpPr>
        <p:spPr>
          <a:xfrm>
            <a:off x="1240560" y="3491280"/>
            <a:ext cx="1465560" cy="3074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pc="-1" strike="noStrike">
                <a:solidFill>
                  <a:srgbClr val="d7d4cc"/>
                </a:solidFill>
                <a:latin typeface="Raleway Medium"/>
                <a:ea typeface="Raleway Medium"/>
              </a:rPr>
              <a:t>Completed </a:t>
            </a:r>
            <a:r>
              <a:rPr b="0" lang="en-US" sz="1500" spc="-1" strike="noStrike">
                <a:solidFill>
                  <a:srgbClr val="000000"/>
                </a:solidFill>
                <a:latin typeface="Raleway Medium"/>
                <a:ea typeface="Raleway Medium"/>
              </a:rPr>
              <a:t>✅</a:t>
            </a:r>
            <a:endParaRPr b="0" lang="en-IN" sz="1500" spc="-1" strike="noStrike">
              <a:solidFill>
                <a:srgbClr val="000000"/>
              </a:solidFill>
              <a:latin typeface="Arial"/>
            </a:endParaRPr>
          </a:p>
        </p:txBody>
      </p:sp>
      <p:sp>
        <p:nvSpPr>
          <p:cNvPr id="125" name="Text 3"/>
          <p:cNvSpPr/>
          <p:nvPr/>
        </p:nvSpPr>
        <p:spPr>
          <a:xfrm>
            <a:off x="1094760" y="3969000"/>
            <a:ext cx="3756960" cy="33588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1" lang="en-US" sz="2100" spc="-1" strike="noStrike">
                <a:solidFill>
                  <a:srgbClr val="d7d4cc"/>
                </a:solidFill>
                <a:latin typeface="Comfortaa Bold"/>
                <a:ea typeface="Comfortaa Bold"/>
              </a:rPr>
              <a:t>Foundation &amp; Architecture</a:t>
            </a:r>
            <a:endParaRPr b="0" lang="en-IN" sz="2100" spc="-1" strike="noStrike">
              <a:solidFill>
                <a:srgbClr val="000000"/>
              </a:solidFill>
              <a:latin typeface="Arial"/>
            </a:endParaRPr>
          </a:p>
        </p:txBody>
      </p:sp>
      <p:sp>
        <p:nvSpPr>
          <p:cNvPr id="126" name="Text 4"/>
          <p:cNvSpPr/>
          <p:nvPr/>
        </p:nvSpPr>
        <p:spPr>
          <a:xfrm>
            <a:off x="1094760" y="4450680"/>
            <a:ext cx="3820680" cy="2316600"/>
          </a:xfrm>
          <a:prstGeom prst="rect">
            <a:avLst/>
          </a:prstGeom>
          <a:noFill/>
          <a:ln w="0">
            <a:noFill/>
          </a:ln>
        </p:spPr>
        <p:style>
          <a:lnRef idx="0"/>
          <a:fillRef idx="0"/>
          <a:effectRef idx="0"/>
          <a:fontRef idx="minor"/>
        </p:style>
        <p:txBody>
          <a:bodyPr lIns="0" rIns="0" tIns="0" bIns="0" anchor="t">
            <a:noAutofit/>
          </a:bodyPr>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Established DevOps workflow (GitHub + Supabase Cloud)</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Outlined 36-table 'Mid-Stream' Schema</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Developed DFD level 0 and 1</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Developed Basic ER diagram</a:t>
            </a:r>
            <a:endParaRPr b="0" lang="en-IN" sz="1900" spc="-1" strike="noStrike">
              <a:solidFill>
                <a:srgbClr val="000000"/>
              </a:solidFill>
              <a:latin typeface="Arial"/>
            </a:endParaRPr>
          </a:p>
        </p:txBody>
      </p:sp>
      <p:pic>
        <p:nvPicPr>
          <p:cNvPr id="127" name="Image 1" descr="preencoded.png"/>
          <p:cNvPicPr/>
          <p:nvPr/>
        </p:nvPicPr>
        <p:blipFill>
          <a:blip r:embed="rId2"/>
          <a:stretch/>
        </p:blipFill>
        <p:spPr>
          <a:xfrm>
            <a:off x="5160600" y="2205720"/>
            <a:ext cx="4307400" cy="971280"/>
          </a:xfrm>
          <a:prstGeom prst="rect">
            <a:avLst/>
          </a:prstGeom>
          <a:ln w="0">
            <a:noFill/>
          </a:ln>
        </p:spPr>
      </p:pic>
      <p:sp>
        <p:nvSpPr>
          <p:cNvPr id="128" name="Shape 5"/>
          <p:cNvSpPr/>
          <p:nvPr/>
        </p:nvSpPr>
        <p:spPr>
          <a:xfrm>
            <a:off x="5403600" y="3418560"/>
            <a:ext cx="1847160" cy="452880"/>
          </a:xfrm>
          <a:prstGeom prst="roundRect">
            <a:avLst>
              <a:gd name="adj" fmla="val 64188"/>
            </a:avLst>
          </a:prstGeom>
          <a:solidFill>
            <a:srgbClr val="4d4000"/>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29" name="Text 6"/>
          <p:cNvSpPr/>
          <p:nvPr/>
        </p:nvSpPr>
        <p:spPr>
          <a:xfrm>
            <a:off x="5549760" y="3491280"/>
            <a:ext cx="1555200" cy="3074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pc="-1" strike="noStrike">
                <a:solidFill>
                  <a:srgbClr val="d7d4cc"/>
                </a:solidFill>
                <a:latin typeface="Raleway Medium"/>
                <a:ea typeface="Raleway Medium"/>
              </a:rPr>
              <a:t>In Progress </a:t>
            </a:r>
            <a:r>
              <a:rPr b="0" lang="en-US" sz="1500" spc="-1" strike="noStrike">
                <a:solidFill>
                  <a:srgbClr val="000000"/>
                </a:solidFill>
                <a:latin typeface="Raleway Medium"/>
                <a:ea typeface="Raleway Medium"/>
              </a:rPr>
              <a:t>🚧</a:t>
            </a:r>
            <a:endParaRPr b="0" lang="en-IN" sz="1500" spc="-1" strike="noStrike">
              <a:solidFill>
                <a:srgbClr val="000000"/>
              </a:solidFill>
              <a:latin typeface="Arial"/>
            </a:endParaRPr>
          </a:p>
        </p:txBody>
      </p:sp>
      <p:sp>
        <p:nvSpPr>
          <p:cNvPr id="130" name="Text 7"/>
          <p:cNvSpPr/>
          <p:nvPr/>
        </p:nvSpPr>
        <p:spPr>
          <a:xfrm>
            <a:off x="5403600" y="3969000"/>
            <a:ext cx="3156480" cy="33588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1" lang="en-US" sz="2100" spc="-1" strike="noStrike">
                <a:solidFill>
                  <a:srgbClr val="d7d4cc"/>
                </a:solidFill>
                <a:latin typeface="Comfortaa Bold"/>
                <a:ea typeface="Comfortaa Bold"/>
              </a:rPr>
              <a:t>The Closed-Loop Core</a:t>
            </a:r>
            <a:endParaRPr b="0" lang="en-IN" sz="2100" spc="-1" strike="noStrike">
              <a:solidFill>
                <a:srgbClr val="000000"/>
              </a:solidFill>
              <a:latin typeface="Arial"/>
            </a:endParaRPr>
          </a:p>
        </p:txBody>
      </p:sp>
      <p:sp>
        <p:nvSpPr>
          <p:cNvPr id="131" name="Text 8"/>
          <p:cNvSpPr/>
          <p:nvPr/>
        </p:nvSpPr>
        <p:spPr>
          <a:xfrm>
            <a:off x="5403600" y="4450680"/>
            <a:ext cx="3821040" cy="2316600"/>
          </a:xfrm>
          <a:prstGeom prst="rect">
            <a:avLst/>
          </a:prstGeom>
          <a:noFill/>
          <a:ln w="0">
            <a:noFill/>
          </a:ln>
        </p:spPr>
        <p:style>
          <a:lnRef idx="0"/>
          <a:fillRef idx="0"/>
          <a:effectRef idx="0"/>
          <a:fontRef idx="minor"/>
        </p:style>
        <p:txBody>
          <a:bodyPr lIns="0" rIns="0" tIns="0" bIns="0" anchor="t">
            <a:noAutofit/>
          </a:bodyPr>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Implementation of 3NF Relational Database</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Coding the 'Reverse Logistics' &amp; 'Disposal' modules</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Deploying Temporal Triggers for Auto-Expiry</a:t>
            </a:r>
            <a:endParaRPr b="0" lang="en-IN" sz="1900" spc="-1" strike="noStrike">
              <a:solidFill>
                <a:srgbClr val="000000"/>
              </a:solidFill>
              <a:latin typeface="Arial"/>
            </a:endParaRPr>
          </a:p>
        </p:txBody>
      </p:sp>
      <p:pic>
        <p:nvPicPr>
          <p:cNvPr id="132" name="Image 2" descr="preencoded.png"/>
          <p:cNvPicPr/>
          <p:nvPr/>
        </p:nvPicPr>
        <p:blipFill>
          <a:blip r:embed="rId3"/>
          <a:stretch/>
        </p:blipFill>
        <p:spPr>
          <a:xfrm>
            <a:off x="9469800" y="2205720"/>
            <a:ext cx="4307400" cy="971280"/>
          </a:xfrm>
          <a:prstGeom prst="rect">
            <a:avLst/>
          </a:prstGeom>
          <a:ln w="0">
            <a:noFill/>
          </a:ln>
        </p:spPr>
      </p:pic>
      <p:sp>
        <p:nvSpPr>
          <p:cNvPr id="133" name="Shape 9"/>
          <p:cNvSpPr/>
          <p:nvPr/>
        </p:nvSpPr>
        <p:spPr>
          <a:xfrm>
            <a:off x="9713160" y="3418560"/>
            <a:ext cx="2036880" cy="452880"/>
          </a:xfrm>
          <a:prstGeom prst="roundRect">
            <a:avLst>
              <a:gd name="adj" fmla="val 64188"/>
            </a:avLst>
          </a:prstGeom>
          <a:solidFill>
            <a:srgbClr val="4d4000"/>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34" name="Text 10"/>
          <p:cNvSpPr/>
          <p:nvPr/>
        </p:nvSpPr>
        <p:spPr>
          <a:xfrm>
            <a:off x="9858960" y="3491280"/>
            <a:ext cx="1745280" cy="3074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pc="-1" strike="noStrike">
                <a:solidFill>
                  <a:srgbClr val="d7d4cc"/>
                </a:solidFill>
                <a:latin typeface="Raleway Medium"/>
                <a:ea typeface="Raleway Medium"/>
              </a:rPr>
              <a:t>Future Scope </a:t>
            </a:r>
            <a:r>
              <a:rPr b="0" lang="en-US" sz="1500" spc="-1" strike="noStrike">
                <a:solidFill>
                  <a:srgbClr val="000000"/>
                </a:solidFill>
                <a:latin typeface="Raleway Medium"/>
                <a:ea typeface="Raleway Medium"/>
              </a:rPr>
              <a:t>🚀</a:t>
            </a:r>
            <a:endParaRPr b="0" lang="en-IN" sz="1500" spc="-1" strike="noStrike">
              <a:solidFill>
                <a:srgbClr val="000000"/>
              </a:solidFill>
              <a:latin typeface="Arial"/>
            </a:endParaRPr>
          </a:p>
        </p:txBody>
      </p:sp>
      <p:sp>
        <p:nvSpPr>
          <p:cNvPr id="135" name="Text 11"/>
          <p:cNvSpPr/>
          <p:nvPr/>
        </p:nvSpPr>
        <p:spPr>
          <a:xfrm>
            <a:off x="9713160" y="3969000"/>
            <a:ext cx="3146760" cy="33588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1" lang="en-US" sz="2100" spc="-1" strike="noStrike">
                <a:solidFill>
                  <a:srgbClr val="d7d4cc"/>
                </a:solidFill>
                <a:latin typeface="Comfortaa Bold"/>
                <a:ea typeface="Comfortaa Bold"/>
              </a:rPr>
              <a:t>AI &amp; Smart Integration</a:t>
            </a:r>
            <a:endParaRPr b="0" lang="en-IN" sz="2100" spc="-1" strike="noStrike">
              <a:solidFill>
                <a:srgbClr val="000000"/>
              </a:solidFill>
              <a:latin typeface="Arial"/>
            </a:endParaRPr>
          </a:p>
        </p:txBody>
      </p:sp>
      <p:sp>
        <p:nvSpPr>
          <p:cNvPr id="136" name="Text 12"/>
          <p:cNvSpPr/>
          <p:nvPr/>
        </p:nvSpPr>
        <p:spPr>
          <a:xfrm>
            <a:off x="9713160" y="4450680"/>
            <a:ext cx="3821040" cy="2316600"/>
          </a:xfrm>
          <a:prstGeom prst="rect">
            <a:avLst/>
          </a:prstGeom>
          <a:noFill/>
          <a:ln w="0">
            <a:noFill/>
          </a:ln>
        </p:spPr>
        <p:style>
          <a:lnRef idx="0"/>
          <a:fillRef idx="0"/>
          <a:effectRef idx="0"/>
          <a:fontRef idx="minor"/>
        </p:style>
        <p:txBody>
          <a:bodyPr lIns="0" rIns="0" tIns="0" bIns="0" anchor="t">
            <a:noAutofit/>
          </a:bodyPr>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Integration of Python-based ML models</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Smart Demand Forecasting based on return rates</a:t>
            </a:r>
            <a:endParaRPr b="0" lang="en-IN" sz="1900" spc="-1" strike="noStrike">
              <a:solidFill>
                <a:srgbClr val="000000"/>
              </a:solidFill>
              <a:latin typeface="Arial"/>
            </a:endParaRPr>
          </a:p>
          <a:p>
            <a:pPr marL="343080" indent="-343080">
              <a:lnSpc>
                <a:spcPts val="2999"/>
              </a:lnSpc>
              <a:buClr>
                <a:srgbClr val="d7d4cc"/>
              </a:buClr>
              <a:buFont typeface="Symbol" charset="2"/>
              <a:buChar char=""/>
            </a:pPr>
            <a:r>
              <a:rPr b="0" lang="en-US" sz="1900" spc="-1" strike="noStrike">
                <a:solidFill>
                  <a:srgbClr val="d7d4cc"/>
                </a:solidFill>
                <a:latin typeface="Raleway Medium"/>
                <a:ea typeface="Raleway Medium"/>
              </a:rPr>
              <a:t>Anomaly detection for counterfeit tracking</a:t>
            </a:r>
            <a:endParaRPr b="0" lang="en-IN" sz="1900" spc="-1" strike="noStrike">
              <a:solidFill>
                <a:srgbClr val="000000"/>
              </a:solidFill>
              <a:latin typeface="Arial"/>
            </a:endParaRPr>
          </a:p>
        </p:txBody>
      </p:sp>
      <p:sp>
        <p:nvSpPr>
          <p:cNvPr id="137"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pPr>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Shape 0"/>
          <p:cNvSpPr/>
          <p:nvPr/>
        </p:nvSpPr>
        <p:spPr>
          <a:xfrm>
            <a:off x="864000" y="1488960"/>
            <a:ext cx="1592280" cy="462240"/>
          </a:xfrm>
          <a:prstGeom prst="roundRect">
            <a:avLst>
              <a:gd name="adj" fmla="val 63836"/>
            </a:avLst>
          </a:prstGeom>
          <a:solidFill>
            <a:srgbClr val="4d4000"/>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39" name="Text 1"/>
          <p:cNvSpPr/>
          <p:nvPr/>
        </p:nvSpPr>
        <p:spPr>
          <a:xfrm>
            <a:off x="1012320" y="1563120"/>
            <a:ext cx="1296360" cy="31428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0" lang="en-US" sz="1550" spc="-1" strike="noStrike">
                <a:solidFill>
                  <a:srgbClr val="d7d4cc"/>
                </a:solidFill>
                <a:latin typeface="Raleway Medium"/>
                <a:ea typeface="Raleway Medium"/>
              </a:rPr>
              <a:t>CONCLUSION</a:t>
            </a:r>
            <a:endParaRPr b="0" lang="en-IN" sz="1550" spc="-1" strike="noStrike">
              <a:solidFill>
                <a:srgbClr val="000000"/>
              </a:solidFill>
              <a:latin typeface="Arial"/>
            </a:endParaRPr>
          </a:p>
        </p:txBody>
      </p:sp>
      <p:sp>
        <p:nvSpPr>
          <p:cNvPr id="140" name="Text 2"/>
          <p:cNvSpPr/>
          <p:nvPr/>
        </p:nvSpPr>
        <p:spPr>
          <a:xfrm>
            <a:off x="864000" y="2051640"/>
            <a:ext cx="9104040" cy="684000"/>
          </a:xfrm>
          <a:prstGeom prst="rect">
            <a:avLst/>
          </a:prstGeom>
          <a:noFill/>
          <a:ln w="0">
            <a:noFill/>
          </a:ln>
        </p:spPr>
        <p:style>
          <a:lnRef idx="0"/>
          <a:fillRef idx="0"/>
          <a:effectRef idx="0"/>
          <a:fontRef idx="minor"/>
        </p:style>
        <p:txBody>
          <a:bodyPr wrap="none" lIns="0" rIns="0" tIns="0" bIns="0" anchor="t">
            <a:noAutofit/>
          </a:bodyPr>
          <a:p>
            <a:pPr>
              <a:lnSpc>
                <a:spcPts val="5400"/>
              </a:lnSpc>
              <a:tabLst>
                <a:tab algn="l" pos="0"/>
              </a:tabLst>
            </a:pPr>
            <a:r>
              <a:rPr b="1" lang="en-US" sz="4300" spc="-1" strike="noStrike">
                <a:solidFill>
                  <a:srgbClr val="ffe14d"/>
                </a:solidFill>
                <a:latin typeface="Comfortaa Bold"/>
                <a:ea typeface="Comfortaa Bold"/>
              </a:rPr>
              <a:t>PharmaChain: Closing the Loop</a:t>
            </a:r>
            <a:endParaRPr b="0" lang="en-IN" sz="4300" spc="-1" strike="noStrike">
              <a:solidFill>
                <a:srgbClr val="000000"/>
              </a:solidFill>
              <a:latin typeface="Arial"/>
            </a:endParaRPr>
          </a:p>
        </p:txBody>
      </p:sp>
      <p:sp>
        <p:nvSpPr>
          <p:cNvPr id="141" name="Shape 3"/>
          <p:cNvSpPr/>
          <p:nvPr/>
        </p:nvSpPr>
        <p:spPr>
          <a:xfrm>
            <a:off x="864000" y="3107880"/>
            <a:ext cx="4134600" cy="2563200"/>
          </a:xfrm>
          <a:prstGeom prst="roundRect">
            <a:avLst>
              <a:gd name="adj" fmla="val 14439"/>
            </a:avLst>
          </a:prstGeom>
          <a:solidFill>
            <a:srgbClr val="46464a"/>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42" name="Text 4"/>
          <p:cNvSpPr/>
          <p:nvPr/>
        </p:nvSpPr>
        <p:spPr>
          <a:xfrm>
            <a:off x="1110960" y="3354840"/>
            <a:ext cx="3047400" cy="341280"/>
          </a:xfrm>
          <a:prstGeom prst="rect">
            <a:avLst/>
          </a:prstGeom>
          <a:noFill/>
          <a:ln w="0">
            <a:noFill/>
          </a:ln>
        </p:spPr>
        <p:style>
          <a:lnRef idx="0"/>
          <a:fillRef idx="0"/>
          <a:effectRef idx="0"/>
          <a:fontRef idx="minor"/>
        </p:style>
        <p:txBody>
          <a:bodyPr wrap="none" lIns="0" rIns="0" tIns="0" bIns="0" anchor="t">
            <a:noAutofit/>
          </a:bodyPr>
          <a:p>
            <a:pPr>
              <a:lnSpc>
                <a:spcPts val="2701"/>
              </a:lnSpc>
              <a:tabLst>
                <a:tab algn="l" pos="0"/>
              </a:tabLst>
            </a:pPr>
            <a:r>
              <a:rPr b="1" lang="en-US" sz="2150" spc="-1" strike="noStrike">
                <a:solidFill>
                  <a:srgbClr val="d7d4cc"/>
                </a:solidFill>
                <a:latin typeface="Comfortaa Bold"/>
                <a:ea typeface="Comfortaa Bold"/>
              </a:rPr>
              <a:t>Audit Trail Excellence</a:t>
            </a:r>
            <a:endParaRPr b="0" lang="en-IN" sz="2150" spc="-1" strike="noStrike">
              <a:solidFill>
                <a:srgbClr val="000000"/>
              </a:solidFill>
              <a:latin typeface="Arial"/>
            </a:endParaRPr>
          </a:p>
        </p:txBody>
      </p:sp>
      <p:sp>
        <p:nvSpPr>
          <p:cNvPr id="143" name="Text 5"/>
          <p:cNvSpPr/>
          <p:nvPr/>
        </p:nvSpPr>
        <p:spPr>
          <a:xfrm>
            <a:off x="1110960" y="3845880"/>
            <a:ext cx="3640680" cy="157824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pc="-1" strike="noStrike">
                <a:solidFill>
                  <a:srgbClr val="d7d4cc"/>
                </a:solidFill>
                <a:latin typeface="Raleway Medium"/>
                <a:ea typeface="Raleway Medium"/>
              </a:rPr>
              <a:t>Bulletproof traceability from factory gate to pharmacy counter and back, ensuring medicine safety at every step.</a:t>
            </a:r>
            <a:endParaRPr b="0" lang="en-IN" sz="1900" spc="-1" strike="noStrike">
              <a:solidFill>
                <a:srgbClr val="000000"/>
              </a:solidFill>
              <a:latin typeface="Arial"/>
            </a:endParaRPr>
          </a:p>
        </p:txBody>
      </p:sp>
      <p:sp>
        <p:nvSpPr>
          <p:cNvPr id="144" name="Shape 6"/>
          <p:cNvSpPr/>
          <p:nvPr/>
        </p:nvSpPr>
        <p:spPr>
          <a:xfrm>
            <a:off x="5247000" y="3107880"/>
            <a:ext cx="4134600" cy="2563200"/>
          </a:xfrm>
          <a:prstGeom prst="roundRect">
            <a:avLst>
              <a:gd name="adj" fmla="val 14439"/>
            </a:avLst>
          </a:prstGeom>
          <a:solidFill>
            <a:srgbClr val="46464a"/>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45" name="Text 7"/>
          <p:cNvSpPr/>
          <p:nvPr/>
        </p:nvSpPr>
        <p:spPr>
          <a:xfrm>
            <a:off x="5493960" y="3354840"/>
            <a:ext cx="2741400" cy="341280"/>
          </a:xfrm>
          <a:prstGeom prst="rect">
            <a:avLst/>
          </a:prstGeom>
          <a:noFill/>
          <a:ln w="0">
            <a:noFill/>
          </a:ln>
        </p:spPr>
        <p:style>
          <a:lnRef idx="0"/>
          <a:fillRef idx="0"/>
          <a:effectRef idx="0"/>
          <a:fontRef idx="minor"/>
        </p:style>
        <p:txBody>
          <a:bodyPr wrap="none" lIns="0" rIns="0" tIns="0" bIns="0" anchor="t">
            <a:noAutofit/>
          </a:bodyPr>
          <a:p>
            <a:pPr>
              <a:lnSpc>
                <a:spcPts val="2701"/>
              </a:lnSpc>
              <a:tabLst>
                <a:tab algn="l" pos="0"/>
              </a:tabLst>
            </a:pPr>
            <a:r>
              <a:rPr b="1" lang="en-US" sz="2150" spc="-1" strike="noStrike">
                <a:solidFill>
                  <a:srgbClr val="d7d4cc"/>
                </a:solidFill>
                <a:latin typeface="Comfortaa Bold"/>
                <a:ea typeface="Comfortaa Bold"/>
              </a:rPr>
              <a:t>Financial Impact</a:t>
            </a:r>
            <a:endParaRPr b="0" lang="en-IN" sz="2150" spc="-1" strike="noStrike">
              <a:solidFill>
                <a:srgbClr val="000000"/>
              </a:solidFill>
              <a:latin typeface="Arial"/>
            </a:endParaRPr>
          </a:p>
        </p:txBody>
      </p:sp>
      <p:sp>
        <p:nvSpPr>
          <p:cNvPr id="146" name="Text 8"/>
          <p:cNvSpPr/>
          <p:nvPr/>
        </p:nvSpPr>
        <p:spPr>
          <a:xfrm>
            <a:off x="5493960" y="3845880"/>
            <a:ext cx="3640680" cy="157824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pc="-1" strike="noStrike">
                <a:solidFill>
                  <a:srgbClr val="d7d4cc"/>
                </a:solidFill>
                <a:latin typeface="Raleway Medium"/>
                <a:ea typeface="Raleway Medium"/>
              </a:rPr>
              <a:t>Minimizing pharmaceutical losses through proactive expiry management and efficient recall processes.</a:t>
            </a:r>
            <a:endParaRPr b="0" lang="en-IN" sz="1900" spc="-1" strike="noStrike">
              <a:solidFill>
                <a:srgbClr val="000000"/>
              </a:solidFill>
              <a:latin typeface="Arial"/>
            </a:endParaRPr>
          </a:p>
        </p:txBody>
      </p:sp>
      <p:sp>
        <p:nvSpPr>
          <p:cNvPr id="147" name="Shape 9"/>
          <p:cNvSpPr/>
          <p:nvPr/>
        </p:nvSpPr>
        <p:spPr>
          <a:xfrm>
            <a:off x="9630000" y="3107880"/>
            <a:ext cx="4134600" cy="2563200"/>
          </a:xfrm>
          <a:prstGeom prst="roundRect">
            <a:avLst>
              <a:gd name="adj" fmla="val 14439"/>
            </a:avLst>
          </a:prstGeom>
          <a:solidFill>
            <a:srgbClr val="46464a"/>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48" name="Text 10"/>
          <p:cNvSpPr/>
          <p:nvPr/>
        </p:nvSpPr>
        <p:spPr>
          <a:xfrm>
            <a:off x="9876960" y="3354840"/>
            <a:ext cx="3491640" cy="341280"/>
          </a:xfrm>
          <a:prstGeom prst="rect">
            <a:avLst/>
          </a:prstGeom>
          <a:noFill/>
          <a:ln w="0">
            <a:noFill/>
          </a:ln>
        </p:spPr>
        <p:style>
          <a:lnRef idx="0"/>
          <a:fillRef idx="0"/>
          <a:effectRef idx="0"/>
          <a:fontRef idx="minor"/>
        </p:style>
        <p:txBody>
          <a:bodyPr wrap="none" lIns="0" rIns="0" tIns="0" bIns="0" anchor="t">
            <a:noAutofit/>
          </a:bodyPr>
          <a:p>
            <a:pPr>
              <a:lnSpc>
                <a:spcPts val="2701"/>
              </a:lnSpc>
              <a:tabLst>
                <a:tab algn="l" pos="0"/>
              </a:tabLst>
            </a:pPr>
            <a:r>
              <a:rPr b="1" lang="en-US" sz="2150" spc="-1" strike="noStrike">
                <a:solidFill>
                  <a:srgbClr val="d7d4cc"/>
                </a:solidFill>
                <a:latin typeface="Comfortaa Bold"/>
                <a:ea typeface="Comfortaa Bold"/>
              </a:rPr>
              <a:t>Public Health Protection</a:t>
            </a:r>
            <a:endParaRPr b="0" lang="en-IN" sz="2150" spc="-1" strike="noStrike">
              <a:solidFill>
                <a:srgbClr val="000000"/>
              </a:solidFill>
              <a:latin typeface="Arial"/>
            </a:endParaRPr>
          </a:p>
        </p:txBody>
      </p:sp>
      <p:sp>
        <p:nvSpPr>
          <p:cNvPr id="149" name="Text 11"/>
          <p:cNvSpPr/>
          <p:nvPr/>
        </p:nvSpPr>
        <p:spPr>
          <a:xfrm>
            <a:off x="9876960" y="3845880"/>
            <a:ext cx="3640680" cy="157824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pc="-1" strike="noStrike">
                <a:solidFill>
                  <a:srgbClr val="d7d4cc"/>
                </a:solidFill>
                <a:latin typeface="Raleway Medium"/>
                <a:ea typeface="Raleway Medium"/>
              </a:rPr>
              <a:t>Reducing the risk of expired or recalled medications reaching consumers through automated temporal monitoring.</a:t>
            </a:r>
            <a:endParaRPr b="0" lang="en-IN" sz="1900" spc="-1" strike="noStrike">
              <a:solidFill>
                <a:srgbClr val="000000"/>
              </a:solidFill>
              <a:latin typeface="Arial"/>
            </a:endParaRPr>
          </a:p>
        </p:txBody>
      </p:sp>
      <p:sp>
        <p:nvSpPr>
          <p:cNvPr id="150" name="Text 12"/>
          <p:cNvSpPr/>
          <p:nvPr/>
        </p:nvSpPr>
        <p:spPr>
          <a:xfrm>
            <a:off x="864000" y="5950440"/>
            <a:ext cx="12900600" cy="78840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pc="-1" strike="noStrike">
                <a:solidFill>
                  <a:srgbClr val="d7d4cc"/>
                </a:solidFill>
                <a:latin typeface="Raleway Medium"/>
                <a:ea typeface="Raleway Medium"/>
              </a:rPr>
              <a:t>A research-grade database system that transforms pharmaceutical supply chain management from reactive to proactive, protecting both revenue and patient safety.</a:t>
            </a:r>
            <a:endParaRPr b="0" lang="en-IN" sz="1900" spc="-1" strike="noStrike">
              <a:solidFill>
                <a:srgbClr val="000000"/>
              </a:solidFill>
              <a:latin typeface="Arial"/>
            </a:endParaRPr>
          </a:p>
        </p:txBody>
      </p:sp>
      <p:sp>
        <p:nvSpPr>
          <p:cNvPr id="151" name=""/>
          <p:cNvSpPr/>
          <p:nvPr/>
        </p:nvSpPr>
        <p:spPr>
          <a:xfrm>
            <a:off x="12290400" y="7509600"/>
            <a:ext cx="2338560" cy="718560"/>
          </a:xfrm>
          <a:prstGeom prst="rect">
            <a:avLst/>
          </a:prstGeom>
          <a:solidFill>
            <a:srgbClr val="27272b"/>
          </a:solidFill>
          <a:ln w="0">
            <a:noFill/>
          </a:ln>
        </p:spPr>
        <p:style>
          <a:lnRef idx="0"/>
          <a:fillRef idx="0"/>
          <a:effectRef idx="0"/>
          <a:fontRef idx="minor"/>
        </p:style>
        <p:txBody>
          <a:bodyPr lIns="90000" rIns="90000" tIns="45000" bIns="45000" anchor="ctr">
            <a:noAutofit/>
          </a:bodyPr>
          <a:p>
            <a:pPr>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2026-02-08T07:18:48Z</dcterms:created>
  <dc:creator/>
  <dc:description/>
  <dc:language>en-IN</dc:language>
  <cp:lastModifiedBy/>
  <dcterms:modified xsi:type="dcterms:W3CDTF">2026-02-18T23:57:36Z</dcterms:modified>
  <cp:revision>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(16:9)</vt:lpwstr>
  </property>
  <property fmtid="{D5CDD505-2E9C-101B-9397-08002B2CF9AE}" pid="4" name="Slides">
    <vt:i4>9</vt:i4>
  </property>
</Properties>
</file>